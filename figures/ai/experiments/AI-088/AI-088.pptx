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936ce64084166" /><Relationship Type="http://schemas.openxmlformats.org/officeDocument/2006/relationships/extended-properties" Target="/docProps/app.xml" Id="R5ffbe7f9ad5242a9" /><Relationship Type="http://schemas.openxmlformats.org/officeDocument/2006/relationships/officeDocument" Target="/ppt/presentation.xml" Id="R6942f3009d2a4a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2f93463c704de6"/>
  </p:sldMasterIdLst>
  <p:notesMasterIdLst>
    <p:notesMasterId xmlns:r="http://schemas.openxmlformats.org/officeDocument/2006/relationships" r:id="R351091faf60d4709"/>
  </p:notesMasterIdLst>
  <p:sldIdLst>
    <p:sldId xmlns:r="http://schemas.openxmlformats.org/officeDocument/2006/relationships" id="256" r:id="R4f2d3470741a4d3f"/>
  </p:sldIdLst>
  <p:sldSz cx="13373100" cy="1122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40f063010d423d" /><Relationship Type="http://schemas.openxmlformats.org/officeDocument/2006/relationships/slideMaster" Target="/ppt/slideMasters/slideMaster1.xml" Id="R012f93463c704de6" /><Relationship Type="http://schemas.openxmlformats.org/officeDocument/2006/relationships/notesMaster" Target="/ppt/notesMasters/notesMaster1.xml" Id="R351091faf60d4709" /><Relationship Type="http://schemas.openxmlformats.org/officeDocument/2006/relationships/presProps" Target="/ppt/presProps.xml" Id="Rc9a3c5c8a57547b2" /><Relationship Type="http://schemas.openxmlformats.org/officeDocument/2006/relationships/tableStyles" Target="/ppt/tableStyles.xml" Id="Rd3098ed72ea04713" /><Relationship Type="http://schemas.openxmlformats.org/officeDocument/2006/relationships/slide" Target="/ppt/slides/slide1.xml" Id="R4f2d3470741a4d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8aa08d5afb45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e9bed91a1f47fb" /><Relationship Type="http://schemas.openxmlformats.org/officeDocument/2006/relationships/notesMaster" Target="/ppt/notesMasters/notesMaster1.xml" Id="R07780ff25aaa44a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素材ID：AI-088</ns1:t>
            </ns1:r>
          </ns1:p>
          <ns1:p>
            <ns1:r>
              <ns1:t>论文：GxVAEs: Two Joint VAEs Generate Hit Molecules from Gene Expression Profiles</ns1:t>
            </ns1:r>
          </ns1:p>
          <ns1:p>
            <ns1:r>
              <ns1:t>会议：AAAI 2024</ns1:t>
            </ns1:r>
          </ns1:p>
          <ns1:p>
            <ns1:r>
              <ns1:t>奖项：Outstanding Paper</ns1:t>
            </ns1:r>
          </ns1:p>
          <ns1:p>
            <ns1:r>
              <ns1:t>图号：Figure 4，PDF第6页</ns1:t>
            </ns1:r>
          </ns1:p>
          <ns1:p>
            <ns1:r>
              <ns1:t>类型：实验图表</ns1:t>
            </ns1:r>
          </ns1:p>
          <ns1:p>
            <ns1:r>
              <ns1:t>借鉴点：十种目标蛋白分行，每种方法以已知配体与生成分子成对比较，保留原子与化学键层次。</ns1:t>
            </ns1:r>
          </ns1:p>
          <ns1:p>
            <ns1:r>
              <ns1:t>论文URL：https://ojs.aaai.org/index.php/AAAI/article/view/29248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编辑与保真说明：表头、蛋白名称和表线均为原生；60个分子示例独立保留源图，化学键和原子标注不声称可编辑。字号和字距有轻微近似。</ns1:t>
            </ns1:r>
          </ns1:p>
          <ns1:p>
            <ns1:r>
              <ns1:t>复刻方式：Native comparison table with sixty independent source molecular examples, preserving all ten target proteins and three method pairs.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2dfdbf46144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93d037e4d49dc" /><Relationship Type="http://schemas.openxmlformats.org/officeDocument/2006/relationships/slideLayout" Target="/ppt/slideLayouts/slideLayout1.xml" Id="Rb15336e4dc9a48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336e4dc9a48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44a7582d44f02" /><Relationship Type="http://schemas.openxmlformats.org/officeDocument/2006/relationships/image" Target="/ppt/media/image.png" Id="R24d79056994a484b" /><Relationship Type="http://schemas.openxmlformats.org/officeDocument/2006/relationships/image" Target="/ppt/media/image2.png" Id="R55c9fcb8fd3948e0" /><Relationship Type="http://schemas.openxmlformats.org/officeDocument/2006/relationships/image" Target="/ppt/media/image3.png" Id="R0e022482b5c44324" /><Relationship Type="http://schemas.openxmlformats.org/officeDocument/2006/relationships/image" Target="/ppt/media/image4.png" Id="R297083e8a25b498a" /><Relationship Type="http://schemas.openxmlformats.org/officeDocument/2006/relationships/image" Target="/ppt/media/image5.png" Id="R5c8205f04b6c4064" /><Relationship Type="http://schemas.openxmlformats.org/officeDocument/2006/relationships/image" Target="/ppt/media/image6.png" Id="Ra1f9969dbe33450a" /><Relationship Type="http://schemas.openxmlformats.org/officeDocument/2006/relationships/image" Target="/ppt/media/image7.png" Id="Rba93d42838a44337" /><Relationship Type="http://schemas.openxmlformats.org/officeDocument/2006/relationships/image" Target="/ppt/media/image8.png" Id="Rdfe6d1c5e27d4494" /><Relationship Type="http://schemas.openxmlformats.org/officeDocument/2006/relationships/image" Target="/ppt/media/image9.png" Id="R8290863360854037" /><Relationship Type="http://schemas.openxmlformats.org/officeDocument/2006/relationships/image" Target="/ppt/media/image10.png" Id="R3560eee338eb43b3" /><Relationship Type="http://schemas.openxmlformats.org/officeDocument/2006/relationships/image" Target="/ppt/media/image11.png" Id="Rb867d5e8eba9447f" /><Relationship Type="http://schemas.openxmlformats.org/officeDocument/2006/relationships/image" Target="/ppt/media/image12.png" Id="Rd91ba7b00f054f2f" /><Relationship Type="http://schemas.openxmlformats.org/officeDocument/2006/relationships/image" Target="/ppt/media/image13.png" Id="Rc89dab631e8a4a77" /><Relationship Type="http://schemas.openxmlformats.org/officeDocument/2006/relationships/image" Target="/ppt/media/image14.png" Id="R85e7e1e2b7df4f35" /><Relationship Type="http://schemas.openxmlformats.org/officeDocument/2006/relationships/image" Target="/ppt/media/image15.png" Id="R5c11ac22ffe342b5" /><Relationship Type="http://schemas.openxmlformats.org/officeDocument/2006/relationships/image" Target="/ppt/media/image16.png" Id="Rc1ba1511915d4e37" /><Relationship Type="http://schemas.openxmlformats.org/officeDocument/2006/relationships/image" Target="/ppt/media/image17.png" Id="R6f6fc434cbfd4c57" /><Relationship Type="http://schemas.openxmlformats.org/officeDocument/2006/relationships/image" Target="/ppt/media/image18.png" Id="R4e33e938f989473e" /><Relationship Type="http://schemas.openxmlformats.org/officeDocument/2006/relationships/image" Target="/ppt/media/image19.png" Id="Re840799edbae4e31" /><Relationship Type="http://schemas.openxmlformats.org/officeDocument/2006/relationships/image" Target="/ppt/media/image20.png" Id="Raf0604edbb8544ad" /><Relationship Type="http://schemas.openxmlformats.org/officeDocument/2006/relationships/image" Target="/ppt/media/image21.png" Id="Rd51b880ac4aa498e" /><Relationship Type="http://schemas.openxmlformats.org/officeDocument/2006/relationships/image" Target="/ppt/media/image22.png" Id="R0a2907e5a4544faf" /><Relationship Type="http://schemas.openxmlformats.org/officeDocument/2006/relationships/image" Target="/ppt/media/image23.png" Id="Refd5acb473b64c45" /><Relationship Type="http://schemas.openxmlformats.org/officeDocument/2006/relationships/image" Target="/ppt/media/image24.png" Id="R0a397ea2a8ed47d1" /><Relationship Type="http://schemas.openxmlformats.org/officeDocument/2006/relationships/image" Target="/ppt/media/image25.png" Id="Rb77d06dd4fe94c90" /><Relationship Type="http://schemas.openxmlformats.org/officeDocument/2006/relationships/image" Target="/ppt/media/image26.png" Id="R0ed002089ba54058" /><Relationship Type="http://schemas.openxmlformats.org/officeDocument/2006/relationships/image" Target="/ppt/media/image27.png" Id="R02e7e624773c4a0b" /><Relationship Type="http://schemas.openxmlformats.org/officeDocument/2006/relationships/image" Target="/ppt/media/image28.png" Id="R1315f3c84ca6477a" /><Relationship Type="http://schemas.openxmlformats.org/officeDocument/2006/relationships/image" Target="/ppt/media/image29.png" Id="Rd74d4189d155425b" /><Relationship Type="http://schemas.openxmlformats.org/officeDocument/2006/relationships/image" Target="/ppt/media/image30.png" Id="R3c3f25f1e3634406" /><Relationship Type="http://schemas.openxmlformats.org/officeDocument/2006/relationships/image" Target="/ppt/media/image31.png" Id="R20162876deab4b1f" /><Relationship Type="http://schemas.openxmlformats.org/officeDocument/2006/relationships/image" Target="/ppt/media/image32.png" Id="Rb2ad4438831e456a" /><Relationship Type="http://schemas.openxmlformats.org/officeDocument/2006/relationships/image" Target="/ppt/media/image33.png" Id="R9893c6586aca40b3" /><Relationship Type="http://schemas.openxmlformats.org/officeDocument/2006/relationships/image" Target="/ppt/media/image34.png" Id="R4225790681c84806" /><Relationship Type="http://schemas.openxmlformats.org/officeDocument/2006/relationships/image" Target="/ppt/media/image35.png" Id="Rf9b8fe369d4840be" /><Relationship Type="http://schemas.openxmlformats.org/officeDocument/2006/relationships/image" Target="/ppt/media/image36.png" Id="Rdf0c4aa8771a4560" /><Relationship Type="http://schemas.openxmlformats.org/officeDocument/2006/relationships/image" Target="/ppt/media/image37.png" Id="R4bdf341aca004962" /><Relationship Type="http://schemas.openxmlformats.org/officeDocument/2006/relationships/image" Target="/ppt/media/image38.png" Id="R533fac3270964188" /><Relationship Type="http://schemas.openxmlformats.org/officeDocument/2006/relationships/image" Target="/ppt/media/image39.png" Id="R94351130c85445fa" /><Relationship Type="http://schemas.openxmlformats.org/officeDocument/2006/relationships/image" Target="/ppt/media/image40.png" Id="R1a65ccbb1ffa44de" /><Relationship Type="http://schemas.openxmlformats.org/officeDocument/2006/relationships/image" Target="/ppt/media/image41.png" Id="Re3957f60cc5e4e4d" /><Relationship Type="http://schemas.openxmlformats.org/officeDocument/2006/relationships/image" Target="/ppt/media/image42.png" Id="Rdc18dd7d296d4437" /><Relationship Type="http://schemas.openxmlformats.org/officeDocument/2006/relationships/image" Target="/ppt/media/image43.png" Id="Re50752eb71854467" /><Relationship Type="http://schemas.openxmlformats.org/officeDocument/2006/relationships/image" Target="/ppt/media/image44.png" Id="Ra9a3b64ced4b4208" /><Relationship Type="http://schemas.openxmlformats.org/officeDocument/2006/relationships/image" Target="/ppt/media/image45.png" Id="R8cd78e2a19a0401f" /><Relationship Type="http://schemas.openxmlformats.org/officeDocument/2006/relationships/image" Target="/ppt/media/image46.png" Id="R7bebe8d644b14f1d" /><Relationship Type="http://schemas.openxmlformats.org/officeDocument/2006/relationships/image" Target="/ppt/media/image47.png" Id="R4e484cbe50934215" /><Relationship Type="http://schemas.openxmlformats.org/officeDocument/2006/relationships/image" Target="/ppt/media/image48.png" Id="R7f47cca3946b4277" /><Relationship Type="http://schemas.openxmlformats.org/officeDocument/2006/relationships/image" Target="/ppt/media/image49.png" Id="R0879951eee844908" /><Relationship Type="http://schemas.openxmlformats.org/officeDocument/2006/relationships/image" Target="/ppt/media/image50.png" Id="R2075578480bc4031" /><Relationship Type="http://schemas.openxmlformats.org/officeDocument/2006/relationships/image" Target="/ppt/media/image51.png" Id="R263cbf8ad13048b5" /><Relationship Type="http://schemas.openxmlformats.org/officeDocument/2006/relationships/image" Target="/ppt/media/image52.png" Id="R636f097bf9e24065" /><Relationship Type="http://schemas.openxmlformats.org/officeDocument/2006/relationships/image" Target="/ppt/media/image53.png" Id="R92517e1ebc0e47b9" /><Relationship Type="http://schemas.openxmlformats.org/officeDocument/2006/relationships/image" Target="/ppt/media/image54.png" Id="Rc2d8fd234ae24134" /><Relationship Type="http://schemas.openxmlformats.org/officeDocument/2006/relationships/image" Target="/ppt/media/image55.png" Id="R7217bda2385b4af9" /><Relationship Type="http://schemas.openxmlformats.org/officeDocument/2006/relationships/image" Target="/ppt/media/image56.png" Id="R93ebe871e1504d87" /><Relationship Type="http://schemas.openxmlformats.org/officeDocument/2006/relationships/image" Target="/ppt/media/image57.png" Id="R69d17aa31c6a4772" /><Relationship Type="http://schemas.openxmlformats.org/officeDocument/2006/relationships/image" Target="/ppt/media/image58.png" Id="R6d8a4573bb874a2f" /><Relationship Type="http://schemas.openxmlformats.org/officeDocument/2006/relationships/image" Target="/ppt/media/image59.png" Id="Rddb39d1b2ba54871" /><Relationship Type="http://schemas.openxmlformats.org/officeDocument/2006/relationships/image" Target="/ppt/media/image60.png" Id="R26c7225fa6d94b9e" /><Relationship Type="http://schemas.openxmlformats.org/officeDocument/2006/relationships/notesSlide" Target="/ppt/notesSlides/notesSlide1.xml" Id="R7e5d52ddfebe49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79056994a484b"/>
          <a:stretch xmlns:a="http://schemas.openxmlformats.org/drawingml/2006/main"/>
        </p:blipFill>
        <p:spPr>
          <a:xfrm xmlns:a="http://schemas.openxmlformats.org/drawingml/2006/main">
            <a:off x="1504950" y="542925"/>
            <a:ext cx="2133600" cy="1000125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9fcb8fd3948e0"/>
          <a:stretch xmlns:a="http://schemas.openxmlformats.org/drawingml/2006/main"/>
        </p:blipFill>
        <p:spPr>
          <a:xfrm xmlns:a="http://schemas.openxmlformats.org/drawingml/2006/main">
            <a:off x="3638550" y="542925"/>
            <a:ext cx="1838325" cy="1000125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22482b5c44324"/>
          <a:stretch xmlns:a="http://schemas.openxmlformats.org/drawingml/2006/main"/>
        </p:blipFill>
        <p:spPr>
          <a:xfrm xmlns:a="http://schemas.openxmlformats.org/drawingml/2006/main">
            <a:off x="5505450" y="542925"/>
            <a:ext cx="2190750" cy="1000125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083e8a25b498a"/>
          <a:stretch xmlns:a="http://schemas.openxmlformats.org/drawingml/2006/main"/>
        </p:blipFill>
        <p:spPr>
          <a:xfrm xmlns:a="http://schemas.openxmlformats.org/drawingml/2006/main">
            <a:off x="7696200" y="542925"/>
            <a:ext cx="1781175" cy="1000125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205f04b6c4064"/>
          <a:stretch xmlns:a="http://schemas.openxmlformats.org/drawingml/2006/main"/>
        </p:blipFill>
        <p:spPr>
          <a:xfrm xmlns:a="http://schemas.openxmlformats.org/drawingml/2006/main">
            <a:off x="9505950" y="542925"/>
            <a:ext cx="1743075" cy="1000125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9969dbe33450a"/>
          <a:stretch xmlns:a="http://schemas.openxmlformats.org/drawingml/2006/main"/>
        </p:blipFill>
        <p:spPr>
          <a:xfrm xmlns:a="http://schemas.openxmlformats.org/drawingml/2006/main">
            <a:off x="11249025" y="542925"/>
            <a:ext cx="2066925" cy="1000125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3d42838a44337"/>
          <a:stretch xmlns:a="http://schemas.openxmlformats.org/drawingml/2006/main"/>
        </p:blipFill>
        <p:spPr>
          <a:xfrm xmlns:a="http://schemas.openxmlformats.org/drawingml/2006/main">
            <a:off x="1504950" y="1581150"/>
            <a:ext cx="1885950" cy="971550"/>
          </a:xfrm>
          <a:prstGeom xmlns:a="http://schemas.openxmlformats.org/drawingml/2006/main" prst="rect">
            <a:avLst/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6d1c5e27d4494"/>
          <a:stretch xmlns:a="http://schemas.openxmlformats.org/drawingml/2006/main"/>
        </p:blipFill>
        <p:spPr>
          <a:xfrm xmlns:a="http://schemas.openxmlformats.org/drawingml/2006/main">
            <a:off x="3390900" y="1581150"/>
            <a:ext cx="2085975" cy="971550"/>
          </a:xfrm>
          <a:prstGeom xmlns:a="http://schemas.openxmlformats.org/drawingml/2006/main" prst="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0863360854037"/>
          <a:stretch xmlns:a="http://schemas.openxmlformats.org/drawingml/2006/main"/>
        </p:blipFill>
        <p:spPr>
          <a:xfrm xmlns:a="http://schemas.openxmlformats.org/drawingml/2006/main">
            <a:off x="5505450" y="1581150"/>
            <a:ext cx="2095500" cy="971550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0eee338eb43b3"/>
          <a:stretch xmlns:a="http://schemas.openxmlformats.org/drawingml/2006/main"/>
        </p:blipFill>
        <p:spPr>
          <a:xfrm xmlns:a="http://schemas.openxmlformats.org/drawingml/2006/main">
            <a:off x="7600950" y="1581150"/>
            <a:ext cx="1876425" cy="971550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7d5e8eba9447f"/>
          <a:stretch xmlns:a="http://schemas.openxmlformats.org/drawingml/2006/main"/>
        </p:blipFill>
        <p:spPr>
          <a:xfrm xmlns:a="http://schemas.openxmlformats.org/drawingml/2006/main">
            <a:off x="9505950" y="1581150"/>
            <a:ext cx="1895475" cy="971550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ba7b00f054f2f"/>
          <a:stretch xmlns:a="http://schemas.openxmlformats.org/drawingml/2006/main"/>
        </p:blipFill>
        <p:spPr>
          <a:xfrm xmlns:a="http://schemas.openxmlformats.org/drawingml/2006/main">
            <a:off x="11401425" y="1581150"/>
            <a:ext cx="1914525" cy="971550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dab631e8a4a77"/>
          <a:stretch xmlns:a="http://schemas.openxmlformats.org/drawingml/2006/main"/>
        </p:blipFill>
        <p:spPr>
          <a:xfrm xmlns:a="http://schemas.openxmlformats.org/drawingml/2006/main">
            <a:off x="1504950" y="2581275"/>
            <a:ext cx="2000250" cy="971550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7e1e2b7df4f35"/>
          <a:stretch xmlns:a="http://schemas.openxmlformats.org/drawingml/2006/main"/>
        </p:blipFill>
        <p:spPr>
          <a:xfrm xmlns:a="http://schemas.openxmlformats.org/drawingml/2006/main">
            <a:off x="3505200" y="2581275"/>
            <a:ext cx="1971675" cy="971550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1ac22ffe342b5"/>
          <a:stretch xmlns:a="http://schemas.openxmlformats.org/drawingml/2006/main"/>
        </p:blipFill>
        <p:spPr>
          <a:xfrm xmlns:a="http://schemas.openxmlformats.org/drawingml/2006/main">
            <a:off x="5505450" y="2581275"/>
            <a:ext cx="2057400" cy="971550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a1511915d4e37"/>
          <a:stretch xmlns:a="http://schemas.openxmlformats.org/drawingml/2006/main"/>
        </p:blipFill>
        <p:spPr>
          <a:xfrm xmlns:a="http://schemas.openxmlformats.org/drawingml/2006/main">
            <a:off x="7562850" y="2581275"/>
            <a:ext cx="1914525" cy="971550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fc434cbfd4c57"/>
          <a:stretch xmlns:a="http://schemas.openxmlformats.org/drawingml/2006/main"/>
        </p:blipFill>
        <p:spPr>
          <a:xfrm xmlns:a="http://schemas.openxmlformats.org/drawingml/2006/main">
            <a:off x="9505950" y="2581275"/>
            <a:ext cx="1743075" cy="971550"/>
          </a:xfrm>
          <a:prstGeom xmlns:a="http://schemas.openxmlformats.org/drawingml/2006/main" prst="rect">
            <a:avLst/>
          </a:prstGeom>
        </p:spPr>
      </p:pic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3e938f989473e"/>
          <a:stretch xmlns:a="http://schemas.openxmlformats.org/drawingml/2006/main"/>
        </p:blipFill>
        <p:spPr>
          <a:xfrm xmlns:a="http://schemas.openxmlformats.org/drawingml/2006/main">
            <a:off x="11249025" y="2581275"/>
            <a:ext cx="2066925" cy="971550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0799edbae4e31"/>
          <a:stretch xmlns:a="http://schemas.openxmlformats.org/drawingml/2006/main"/>
        </p:blipFill>
        <p:spPr>
          <a:xfrm xmlns:a="http://schemas.openxmlformats.org/drawingml/2006/main">
            <a:off x="1504950" y="3581400"/>
            <a:ext cx="1714500" cy="1123950"/>
          </a:xfrm>
          <a:prstGeom xmlns:a="http://schemas.openxmlformats.org/drawingml/2006/main" prst="rect">
            <a:avLst/>
          </a:prstGeom>
        </p:spPr>
      </p:pic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604edbb8544ad"/>
          <a:stretch xmlns:a="http://schemas.openxmlformats.org/drawingml/2006/main"/>
        </p:blipFill>
        <p:spPr>
          <a:xfrm xmlns:a="http://schemas.openxmlformats.org/drawingml/2006/main">
            <a:off x="3219450" y="3581400"/>
            <a:ext cx="2257425" cy="1123950"/>
          </a:xfrm>
          <a:prstGeom xmlns:a="http://schemas.openxmlformats.org/drawingml/2006/main" prst="rect">
            <a:avLst/>
          </a:prstGeom>
        </p:spPr>
      </p:pic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b880ac4aa498e"/>
          <a:stretch xmlns:a="http://schemas.openxmlformats.org/drawingml/2006/main"/>
        </p:blipFill>
        <p:spPr>
          <a:xfrm xmlns:a="http://schemas.openxmlformats.org/drawingml/2006/main">
            <a:off x="5505450" y="3581400"/>
            <a:ext cx="2228850" cy="112395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907e5a4544faf"/>
          <a:stretch xmlns:a="http://schemas.openxmlformats.org/drawingml/2006/main"/>
        </p:blipFill>
        <p:spPr>
          <a:xfrm xmlns:a="http://schemas.openxmlformats.org/drawingml/2006/main">
            <a:off x="7734300" y="3581400"/>
            <a:ext cx="1743075" cy="1123950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5acb473b64c45"/>
          <a:stretch xmlns:a="http://schemas.openxmlformats.org/drawingml/2006/main"/>
        </p:blipFill>
        <p:spPr>
          <a:xfrm xmlns:a="http://schemas.openxmlformats.org/drawingml/2006/main">
            <a:off x="9505950" y="3581400"/>
            <a:ext cx="1943100" cy="1123950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97ea2a8ed47d1"/>
          <a:stretch xmlns:a="http://schemas.openxmlformats.org/drawingml/2006/main"/>
        </p:blipFill>
        <p:spPr>
          <a:xfrm xmlns:a="http://schemas.openxmlformats.org/drawingml/2006/main">
            <a:off x="11449050" y="3581400"/>
            <a:ext cx="1866900" cy="1123950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d06dd4fe94c90"/>
          <a:stretch xmlns:a="http://schemas.openxmlformats.org/drawingml/2006/main"/>
        </p:blipFill>
        <p:spPr>
          <a:xfrm xmlns:a="http://schemas.openxmlformats.org/drawingml/2006/main">
            <a:off x="1504950" y="4733925"/>
            <a:ext cx="2028825" cy="1095375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002089ba54058"/>
          <a:stretch xmlns:a="http://schemas.openxmlformats.org/drawingml/2006/main"/>
        </p:blipFill>
        <p:spPr>
          <a:xfrm xmlns:a="http://schemas.openxmlformats.org/drawingml/2006/main">
            <a:off x="3533775" y="4733925"/>
            <a:ext cx="1943100" cy="1095375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7e624773c4a0b"/>
          <a:stretch xmlns:a="http://schemas.openxmlformats.org/drawingml/2006/main"/>
        </p:blipFill>
        <p:spPr>
          <a:xfrm xmlns:a="http://schemas.openxmlformats.org/drawingml/2006/main">
            <a:off x="5505450" y="4733925"/>
            <a:ext cx="2066925" cy="1095375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5f3c84ca6477a"/>
          <a:stretch xmlns:a="http://schemas.openxmlformats.org/drawingml/2006/main"/>
        </p:blipFill>
        <p:spPr>
          <a:xfrm xmlns:a="http://schemas.openxmlformats.org/drawingml/2006/main">
            <a:off x="7572375" y="4733925"/>
            <a:ext cx="1905000" cy="109537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d4189d155425b"/>
          <a:stretch xmlns:a="http://schemas.openxmlformats.org/drawingml/2006/main"/>
        </p:blipFill>
        <p:spPr>
          <a:xfrm xmlns:a="http://schemas.openxmlformats.org/drawingml/2006/main">
            <a:off x="9505950" y="4733925"/>
            <a:ext cx="1924050" cy="1095375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f25f1e3634406"/>
          <a:stretch xmlns:a="http://schemas.openxmlformats.org/drawingml/2006/main"/>
        </p:blipFill>
        <p:spPr>
          <a:xfrm xmlns:a="http://schemas.openxmlformats.org/drawingml/2006/main">
            <a:off x="11430000" y="4733925"/>
            <a:ext cx="1885950" cy="10953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62876deab4b1f"/>
          <a:stretch xmlns:a="http://schemas.openxmlformats.org/drawingml/2006/main"/>
        </p:blipFill>
        <p:spPr>
          <a:xfrm xmlns:a="http://schemas.openxmlformats.org/drawingml/2006/main">
            <a:off x="1504950" y="5867400"/>
            <a:ext cx="2076450" cy="1057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4438831e456a"/>
          <a:stretch xmlns:a="http://schemas.openxmlformats.org/drawingml/2006/main"/>
        </p:blipFill>
        <p:spPr>
          <a:xfrm xmlns:a="http://schemas.openxmlformats.org/drawingml/2006/main">
            <a:off x="3581400" y="5867400"/>
            <a:ext cx="1895475" cy="1057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3c6586aca40b3"/>
          <a:stretch xmlns:a="http://schemas.openxmlformats.org/drawingml/2006/main"/>
        </p:blipFill>
        <p:spPr>
          <a:xfrm xmlns:a="http://schemas.openxmlformats.org/drawingml/2006/main">
            <a:off x="5505450" y="5867400"/>
            <a:ext cx="2228850" cy="1057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5790681c84806"/>
          <a:stretch xmlns:a="http://schemas.openxmlformats.org/drawingml/2006/main"/>
        </p:blipFill>
        <p:spPr>
          <a:xfrm xmlns:a="http://schemas.openxmlformats.org/drawingml/2006/main">
            <a:off x="7734300" y="5867400"/>
            <a:ext cx="1743075" cy="1057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8fe369d4840be"/>
          <a:stretch xmlns:a="http://schemas.openxmlformats.org/drawingml/2006/main"/>
        </p:blipFill>
        <p:spPr>
          <a:xfrm xmlns:a="http://schemas.openxmlformats.org/drawingml/2006/main">
            <a:off x="9505950" y="5867400"/>
            <a:ext cx="1971675" cy="1057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c4aa8771a4560"/>
          <a:stretch xmlns:a="http://schemas.openxmlformats.org/drawingml/2006/main"/>
        </p:blipFill>
        <p:spPr>
          <a:xfrm xmlns:a="http://schemas.openxmlformats.org/drawingml/2006/main">
            <a:off x="11477625" y="5867400"/>
            <a:ext cx="1838325" cy="1057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f341aca004962"/>
          <a:stretch xmlns:a="http://schemas.openxmlformats.org/drawingml/2006/main"/>
        </p:blipFill>
        <p:spPr>
          <a:xfrm xmlns:a="http://schemas.openxmlformats.org/drawingml/2006/main">
            <a:off x="1504950" y="6962775"/>
            <a:ext cx="2076450" cy="107632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fac3270964188"/>
          <a:stretch xmlns:a="http://schemas.openxmlformats.org/drawingml/2006/main"/>
        </p:blipFill>
        <p:spPr>
          <a:xfrm xmlns:a="http://schemas.openxmlformats.org/drawingml/2006/main">
            <a:off x="3581400" y="6962775"/>
            <a:ext cx="1895475" cy="107632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51130c85445fa"/>
          <a:stretch xmlns:a="http://schemas.openxmlformats.org/drawingml/2006/main"/>
        </p:blipFill>
        <p:spPr>
          <a:xfrm xmlns:a="http://schemas.openxmlformats.org/drawingml/2006/main">
            <a:off x="5505450" y="6962775"/>
            <a:ext cx="2028825" cy="107632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5ccbb1ffa44de"/>
          <a:stretch xmlns:a="http://schemas.openxmlformats.org/drawingml/2006/main"/>
        </p:blipFill>
        <p:spPr>
          <a:xfrm xmlns:a="http://schemas.openxmlformats.org/drawingml/2006/main">
            <a:off x="7534275" y="6962775"/>
            <a:ext cx="1943100" cy="107632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57f60cc5e4e4d"/>
          <a:stretch xmlns:a="http://schemas.openxmlformats.org/drawingml/2006/main"/>
        </p:blipFill>
        <p:spPr>
          <a:xfrm xmlns:a="http://schemas.openxmlformats.org/drawingml/2006/main">
            <a:off x="9505950" y="6962775"/>
            <a:ext cx="2133600" cy="107632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8dd7d296d4437"/>
          <a:stretch xmlns:a="http://schemas.openxmlformats.org/drawingml/2006/main"/>
        </p:blipFill>
        <p:spPr>
          <a:xfrm xmlns:a="http://schemas.openxmlformats.org/drawingml/2006/main">
            <a:off x="11639550" y="6962775"/>
            <a:ext cx="1676400" cy="107632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752eb71854467"/>
          <a:stretch xmlns:a="http://schemas.openxmlformats.org/drawingml/2006/main"/>
        </p:blipFill>
        <p:spPr>
          <a:xfrm xmlns:a="http://schemas.openxmlformats.org/drawingml/2006/main">
            <a:off x="1504950" y="8067675"/>
            <a:ext cx="1771650" cy="1066800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3b64ced4b4208"/>
          <a:stretch xmlns:a="http://schemas.openxmlformats.org/drawingml/2006/main"/>
        </p:blipFill>
        <p:spPr>
          <a:xfrm xmlns:a="http://schemas.openxmlformats.org/drawingml/2006/main">
            <a:off x="3276600" y="8067675"/>
            <a:ext cx="2200275" cy="1066800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78e2a19a0401f"/>
          <a:stretch xmlns:a="http://schemas.openxmlformats.org/drawingml/2006/main"/>
        </p:blipFill>
        <p:spPr>
          <a:xfrm xmlns:a="http://schemas.openxmlformats.org/drawingml/2006/main">
            <a:off x="5505450" y="8067675"/>
            <a:ext cx="1876425" cy="1066800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be8d644b14f1d"/>
          <a:stretch xmlns:a="http://schemas.openxmlformats.org/drawingml/2006/main"/>
        </p:blipFill>
        <p:spPr>
          <a:xfrm xmlns:a="http://schemas.openxmlformats.org/drawingml/2006/main">
            <a:off x="7381875" y="8067675"/>
            <a:ext cx="2095500" cy="1066800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84cbe50934215"/>
          <a:stretch xmlns:a="http://schemas.openxmlformats.org/drawingml/2006/main"/>
        </p:blipFill>
        <p:spPr>
          <a:xfrm xmlns:a="http://schemas.openxmlformats.org/drawingml/2006/main">
            <a:off x="9505950" y="8067675"/>
            <a:ext cx="1714500" cy="1066800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7cca3946b4277"/>
          <a:stretch xmlns:a="http://schemas.openxmlformats.org/drawingml/2006/main"/>
        </p:blipFill>
        <p:spPr>
          <a:xfrm xmlns:a="http://schemas.openxmlformats.org/drawingml/2006/main">
            <a:off x="11220450" y="8067675"/>
            <a:ext cx="2095500" cy="1066800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9951eee844908"/>
          <a:stretch xmlns:a="http://schemas.openxmlformats.org/drawingml/2006/main"/>
        </p:blipFill>
        <p:spPr>
          <a:xfrm xmlns:a="http://schemas.openxmlformats.org/drawingml/2006/main">
            <a:off x="1504950" y="9163050"/>
            <a:ext cx="2057400" cy="971550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5578480bc4031"/>
          <a:stretch xmlns:a="http://schemas.openxmlformats.org/drawingml/2006/main"/>
        </p:blipFill>
        <p:spPr>
          <a:xfrm xmlns:a="http://schemas.openxmlformats.org/drawingml/2006/main">
            <a:off x="3562350" y="9163050"/>
            <a:ext cx="1914525" cy="971550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cbf8ad13048b5"/>
          <a:stretch xmlns:a="http://schemas.openxmlformats.org/drawingml/2006/main"/>
        </p:blipFill>
        <p:spPr>
          <a:xfrm xmlns:a="http://schemas.openxmlformats.org/drawingml/2006/main">
            <a:off x="5505450" y="9163050"/>
            <a:ext cx="2019300" cy="971550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f097bf9e24065"/>
          <a:stretch xmlns:a="http://schemas.openxmlformats.org/drawingml/2006/main"/>
        </p:blipFill>
        <p:spPr>
          <a:xfrm xmlns:a="http://schemas.openxmlformats.org/drawingml/2006/main">
            <a:off x="7524750" y="9163050"/>
            <a:ext cx="1952625" cy="971550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17e1ebc0e47b9"/>
          <a:stretch xmlns:a="http://schemas.openxmlformats.org/drawingml/2006/main"/>
        </p:blipFill>
        <p:spPr>
          <a:xfrm xmlns:a="http://schemas.openxmlformats.org/drawingml/2006/main">
            <a:off x="9505950" y="9163050"/>
            <a:ext cx="1847850" cy="971550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8fd234ae24134"/>
          <a:stretch xmlns:a="http://schemas.openxmlformats.org/drawingml/2006/main"/>
        </p:blipFill>
        <p:spPr>
          <a:xfrm xmlns:a="http://schemas.openxmlformats.org/drawingml/2006/main">
            <a:off x="11353800" y="9163050"/>
            <a:ext cx="1962150" cy="971550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7bda2385b4af9"/>
          <a:stretch xmlns:a="http://schemas.openxmlformats.org/drawingml/2006/main"/>
        </p:blipFill>
        <p:spPr>
          <a:xfrm xmlns:a="http://schemas.openxmlformats.org/drawingml/2006/main">
            <a:off x="1504950" y="10163175"/>
            <a:ext cx="2047875" cy="990600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be871e1504d87"/>
          <a:stretch xmlns:a="http://schemas.openxmlformats.org/drawingml/2006/main"/>
        </p:blipFill>
        <p:spPr>
          <a:xfrm xmlns:a="http://schemas.openxmlformats.org/drawingml/2006/main">
            <a:off x="3552825" y="10163175"/>
            <a:ext cx="1924050" cy="990600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17aa31c6a4772"/>
          <a:stretch xmlns:a="http://schemas.openxmlformats.org/drawingml/2006/main"/>
        </p:blipFill>
        <p:spPr>
          <a:xfrm xmlns:a="http://schemas.openxmlformats.org/drawingml/2006/main">
            <a:off x="5505450" y="10163175"/>
            <a:ext cx="2009775" cy="990600"/>
          </a:xfrm>
          <a:prstGeom xmlns:a="http://schemas.openxmlformats.org/drawingml/2006/main" prst="rect">
            <a:avLst/>
          </a:prstGeom>
        </p:spPr>
      </p:pic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a4573bb874a2f"/>
          <a:stretch xmlns:a="http://schemas.openxmlformats.org/drawingml/2006/main"/>
        </p:blipFill>
        <p:spPr>
          <a:xfrm xmlns:a="http://schemas.openxmlformats.org/drawingml/2006/main">
            <a:off x="7515225" y="10163175"/>
            <a:ext cx="1962150" cy="990600"/>
          </a:xfrm>
          <a:prstGeom xmlns:a="http://schemas.openxmlformats.org/drawingml/2006/main" prst="rect">
            <a:avLst/>
          </a:prstGeom>
        </p:spPr>
      </p:pic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39d1b2ba54871"/>
          <a:stretch xmlns:a="http://schemas.openxmlformats.org/drawingml/2006/main"/>
        </p:blipFill>
        <p:spPr>
          <a:xfrm xmlns:a="http://schemas.openxmlformats.org/drawingml/2006/main">
            <a:off x="9505950" y="10163175"/>
            <a:ext cx="1847850" cy="990600"/>
          </a:xfrm>
          <a:prstGeom xmlns:a="http://schemas.openxmlformats.org/drawingml/2006/main" prst="rect">
            <a:avLst/>
          </a:prstGeom>
        </p:spPr>
      </p:pic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7225fa6d94b9e"/>
          <a:stretch xmlns:a="http://schemas.openxmlformats.org/drawingml/2006/main"/>
        </p:blipFill>
        <p:spPr>
          <a:xfrm xmlns:a="http://schemas.openxmlformats.org/drawingml/2006/main">
            <a:off x="11353800" y="10163175"/>
            <a:ext cx="1962150" cy="990600"/>
          </a:xfrm>
          <a:prstGeom xmlns:a="http://schemas.openxmlformats.org/drawingml/2006/main" prst="rect">
            <a:avLst/>
          </a:prstGeom>
        </p:spPr>
      </p:pic>
      <p:sp>
        <p:nvSpPr>
          <p:cNvPr id="61" name="AI088-1">
            <a:extLst xmlns:a="http://schemas.openxmlformats.org/drawingml/2006/main">
              <a:ext uri="{FF2B5EF4-FFF2-40B4-BE49-F238E27FC236}">
                <a16:creationId xmlns:a16="http://schemas.microsoft.com/office/drawing/2014/main" id="{33F310F1-B088-4A19-9D8A-70C702FB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100"/>
            <a:ext cx="10" cy="11115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62" name="AI088-2">
            <a:extLst xmlns:a="http://schemas.openxmlformats.org/drawingml/2006/main">
              <a:ext uri="{FF2B5EF4-FFF2-40B4-BE49-F238E27FC236}">
                <a16:creationId xmlns:a16="http://schemas.microsoft.com/office/drawing/2014/main" id="{AEF2B8CF-44B1-48DB-B436-C52B6C8B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100"/>
            <a:ext cx="10" cy="11115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63" name="AI088-3">
            <a:extLst xmlns:a="http://schemas.openxmlformats.org/drawingml/2006/main">
              <a:ext uri="{FF2B5EF4-FFF2-40B4-BE49-F238E27FC236}">
                <a16:creationId xmlns:a16="http://schemas.microsoft.com/office/drawing/2014/main" id="{7354E112-B92F-4DE0-B0B8-872BD05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"/>
            <a:ext cx="10" cy="11115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64" name="AI088-4">
            <a:extLst xmlns:a="http://schemas.openxmlformats.org/drawingml/2006/main">
              <a:ext uri="{FF2B5EF4-FFF2-40B4-BE49-F238E27FC236}">
                <a16:creationId xmlns:a16="http://schemas.microsoft.com/office/drawing/2014/main" id="{D52F1816-C796-4874-A348-DE02D9D7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528638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65" name="AI088-5">
            <a:extLst xmlns:a="http://schemas.openxmlformats.org/drawingml/2006/main">
              <a:ext uri="{FF2B5EF4-FFF2-40B4-BE49-F238E27FC236}">
                <a16:creationId xmlns:a16="http://schemas.microsoft.com/office/drawing/2014/main" id="{790E5B66-B404-4014-9581-A32213F3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562100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66" name="AI088-6">
            <a:extLst xmlns:a="http://schemas.openxmlformats.org/drawingml/2006/main">
              <a:ext uri="{FF2B5EF4-FFF2-40B4-BE49-F238E27FC236}">
                <a16:creationId xmlns:a16="http://schemas.microsoft.com/office/drawing/2014/main" id="{71580D9F-ED97-4826-96B1-1CECFC01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566988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67" name="AI088-7">
            <a:extLst xmlns:a="http://schemas.openxmlformats.org/drawingml/2006/main">
              <a:ext uri="{FF2B5EF4-FFF2-40B4-BE49-F238E27FC236}">
                <a16:creationId xmlns:a16="http://schemas.microsoft.com/office/drawing/2014/main" id="{CF88FBED-9B12-4DB1-9EEB-18FEFA7D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567113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68" name="AI088-8">
            <a:extLst xmlns:a="http://schemas.openxmlformats.org/drawingml/2006/main">
              <a:ext uri="{FF2B5EF4-FFF2-40B4-BE49-F238E27FC236}">
                <a16:creationId xmlns:a16="http://schemas.microsoft.com/office/drawing/2014/main" id="{ED4A0553-3B8B-4CA3-A307-78A35891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719638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69" name="AI088-9">
            <a:extLst xmlns:a="http://schemas.openxmlformats.org/drawingml/2006/main">
              <a:ext uri="{FF2B5EF4-FFF2-40B4-BE49-F238E27FC236}">
                <a16:creationId xmlns:a16="http://schemas.microsoft.com/office/drawing/2014/main" id="{893A037C-640D-4E98-AAD0-8A68E887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5848350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70" name="AI088-10">
            <a:extLst xmlns:a="http://schemas.openxmlformats.org/drawingml/2006/main">
              <a:ext uri="{FF2B5EF4-FFF2-40B4-BE49-F238E27FC236}">
                <a16:creationId xmlns:a16="http://schemas.microsoft.com/office/drawing/2014/main" id="{3AD20DFC-A192-4A99-B8DE-7820151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6943725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71" name="AI088-11">
            <a:extLst xmlns:a="http://schemas.openxmlformats.org/drawingml/2006/main">
              <a:ext uri="{FF2B5EF4-FFF2-40B4-BE49-F238E27FC236}">
                <a16:creationId xmlns:a16="http://schemas.microsoft.com/office/drawing/2014/main" id="{FB059DC0-430E-4578-BBEC-D04D27B2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8053388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72" name="AI088-12">
            <a:extLst xmlns:a="http://schemas.openxmlformats.org/drawingml/2006/main">
              <a:ext uri="{FF2B5EF4-FFF2-40B4-BE49-F238E27FC236}">
                <a16:creationId xmlns:a16="http://schemas.microsoft.com/office/drawing/2014/main" id="{AB77EF85-2862-4E34-97A2-411FDCDD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9148763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73" name="AI088-13">
            <a:extLst xmlns:a="http://schemas.openxmlformats.org/drawingml/2006/main">
              <a:ext uri="{FF2B5EF4-FFF2-40B4-BE49-F238E27FC236}">
                <a16:creationId xmlns:a16="http://schemas.microsoft.com/office/drawing/2014/main" id="{B000FDFF-62B0-4A63-983B-85FF2668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0148888"/>
            <a:ext cx="13239750" cy="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222"/>
            </a:solidFill>
          </a:ln>
        </p:spPr>
      </p:sp>
      <p:sp>
        <p:nvSpPr>
          <p:cNvPr id="74" name="Text Therapeutic&#10;target protein">
            <a:extLst xmlns:a="http://schemas.openxmlformats.org/drawingml/2006/main">
              <a:ext uri="{FF2B5EF4-FFF2-40B4-BE49-F238E27FC236}">
                <a16:creationId xmlns:a16="http://schemas.microsoft.com/office/drawing/2014/main" id="{989DB0A8-185C-4650-AF79-FCCC8EBF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8575"/>
            <a:ext cx="1400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Therapeutic</a:t>
            </a:r>
          </a:p>
          <a:p xmlns:a="http://schemas.openxmlformats.org/drawingml/2006/main">
            <a:pPr algn="ctr"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protein</a:t>
            </a:r>
          </a:p>
        </p:txBody>
      </p:sp>
      <p:sp>
        <p:nvSpPr>
          <p:cNvPr id="75" name="Text Known ligand">
            <a:extLst xmlns:a="http://schemas.openxmlformats.org/drawingml/2006/main">
              <a:ext uri="{FF2B5EF4-FFF2-40B4-BE49-F238E27FC236}">
                <a16:creationId xmlns:a16="http://schemas.microsoft.com/office/drawing/2014/main" id="{9A158358-B275-4303-A4A4-EAA2FB9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333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ligand</a:t>
            </a:r>
          </a:p>
        </p:txBody>
      </p:sp>
      <p:sp>
        <p:nvSpPr>
          <p:cNvPr id="76" name="Text ExpressionGAN">
            <a:extLst xmlns:a="http://schemas.openxmlformats.org/drawingml/2006/main">
              <a:ext uri="{FF2B5EF4-FFF2-40B4-BE49-F238E27FC236}">
                <a16:creationId xmlns:a16="http://schemas.microsoft.com/office/drawing/2014/main" id="{FB66467A-636B-4A37-BE27-6F474F3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3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>
                <a:solidFill>
                  <a:srgbClr val="000000"/>
                </a:solidFill>
                <a:latin typeface="Arial"/>
                <a:ea typeface="Arial"/>
                <a:cs typeface="Arial"/>
              </a:rPr>
              <a:t>ExpressionGAN</a:t>
            </a:r>
          </a:p>
        </p:txBody>
      </p:sp>
      <p:sp>
        <p:nvSpPr>
          <p:cNvPr id="77" name="Text Known ligand">
            <a:extLst xmlns:a="http://schemas.openxmlformats.org/drawingml/2006/main">
              <a:ext uri="{FF2B5EF4-FFF2-40B4-BE49-F238E27FC236}">
                <a16:creationId xmlns:a16="http://schemas.microsoft.com/office/drawing/2014/main" id="{F0280C6E-E8F5-43CC-A43D-665B2117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33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ligand</a:t>
            </a:r>
          </a:p>
        </p:txBody>
      </p:sp>
      <p:sp>
        <p:nvSpPr>
          <p:cNvPr id="78" name="Text TRIOMPHE">
            <a:extLst xmlns:a="http://schemas.openxmlformats.org/drawingml/2006/main">
              <a:ext uri="{FF2B5EF4-FFF2-40B4-BE49-F238E27FC236}">
                <a16:creationId xmlns:a16="http://schemas.microsoft.com/office/drawing/2014/main" id="{CB783EBE-70C5-4EFA-B7F0-23BDF80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33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>
                <a:solidFill>
                  <a:srgbClr val="000000"/>
                </a:solidFill>
                <a:latin typeface="Arial"/>
                <a:ea typeface="Arial"/>
                <a:cs typeface="Arial"/>
              </a:rPr>
              <a:t>TRIOMPHE</a:t>
            </a:r>
          </a:p>
        </p:txBody>
      </p:sp>
      <p:sp>
        <p:nvSpPr>
          <p:cNvPr id="79" name="Text Known ligand">
            <a:extLst xmlns:a="http://schemas.openxmlformats.org/drawingml/2006/main">
              <a:ext uri="{FF2B5EF4-FFF2-40B4-BE49-F238E27FC236}">
                <a16:creationId xmlns:a16="http://schemas.microsoft.com/office/drawing/2014/main" id="{876503D7-3AB3-4521-9DAD-71159340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33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ligand</a:t>
            </a:r>
          </a:p>
        </p:txBody>
      </p:sp>
      <p:sp>
        <p:nvSpPr>
          <p:cNvPr id="80" name="Text GxVAEs">
            <a:extLst xmlns:a="http://schemas.openxmlformats.org/drawingml/2006/main">
              <a:ext uri="{FF2B5EF4-FFF2-40B4-BE49-F238E27FC236}">
                <a16:creationId xmlns:a16="http://schemas.microsoft.com/office/drawing/2014/main" id="{B2523C68-E0C7-4D31-8D6C-4D18ECA8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133350"/>
            <a:ext cx="1895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5">
                <a:solidFill>
                  <a:srgbClr val="000000"/>
                </a:solidFill>
                <a:latin typeface="Arial"/>
                <a:ea typeface="Arial"/>
                <a:cs typeface="Arial"/>
              </a:rPr>
              <a:t>GxVAEs</a:t>
            </a:r>
          </a:p>
        </p:txBody>
      </p:sp>
      <p:sp>
        <p:nvSpPr>
          <p:cNvPr id="81" name="Text AKT1">
            <a:extLst xmlns:a="http://schemas.openxmlformats.org/drawingml/2006/main">
              <a:ext uri="{FF2B5EF4-FFF2-40B4-BE49-F238E27FC236}">
                <a16:creationId xmlns:a16="http://schemas.microsoft.com/office/drawing/2014/main" id="{5F887D54-606B-4ACB-9B7D-086B9473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528638"/>
            <a:ext cx="1400175" cy="1033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AKT1</a:t>
            </a:r>
          </a:p>
        </p:txBody>
      </p:sp>
      <p:sp>
        <p:nvSpPr>
          <p:cNvPr id="82" name="Text AKT2">
            <a:extLst xmlns:a="http://schemas.openxmlformats.org/drawingml/2006/main">
              <a:ext uri="{FF2B5EF4-FFF2-40B4-BE49-F238E27FC236}">
                <a16:creationId xmlns:a16="http://schemas.microsoft.com/office/drawing/2014/main" id="{55E21237-1E11-469B-8563-811DFCC5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562100"/>
            <a:ext cx="1400175" cy="100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AKT2</a:t>
            </a:r>
          </a:p>
        </p:txBody>
      </p:sp>
      <p:sp>
        <p:nvSpPr>
          <p:cNvPr id="83" name="Text AURKB">
            <a:extLst xmlns:a="http://schemas.openxmlformats.org/drawingml/2006/main">
              <a:ext uri="{FF2B5EF4-FFF2-40B4-BE49-F238E27FC236}">
                <a16:creationId xmlns:a16="http://schemas.microsoft.com/office/drawing/2014/main" id="{6A034E1E-421B-4146-B53E-47268F50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2566988"/>
            <a:ext cx="1400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AURKB</a:t>
            </a:r>
          </a:p>
        </p:txBody>
      </p:sp>
      <p:sp>
        <p:nvSpPr>
          <p:cNvPr id="84" name="Text CTSK">
            <a:extLst xmlns:a="http://schemas.openxmlformats.org/drawingml/2006/main">
              <a:ext uri="{FF2B5EF4-FFF2-40B4-BE49-F238E27FC236}">
                <a16:creationId xmlns:a16="http://schemas.microsoft.com/office/drawing/2014/main" id="{5C1C6064-E564-4B57-B575-42F120C0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3567113"/>
            <a:ext cx="14001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CTSK</a:t>
            </a:r>
          </a:p>
        </p:txBody>
      </p:sp>
      <p:sp>
        <p:nvSpPr>
          <p:cNvPr id="85" name="Text EGFR">
            <a:extLst xmlns:a="http://schemas.openxmlformats.org/drawingml/2006/main">
              <a:ext uri="{FF2B5EF4-FFF2-40B4-BE49-F238E27FC236}">
                <a16:creationId xmlns:a16="http://schemas.microsoft.com/office/drawing/2014/main" id="{2A1B9808-0254-4978-BACA-1A2A0B7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719638"/>
            <a:ext cx="1400175" cy="112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EGFR</a:t>
            </a:r>
          </a:p>
        </p:txBody>
      </p:sp>
      <p:sp>
        <p:nvSpPr>
          <p:cNvPr id="86" name="Text HDAC1">
            <a:extLst xmlns:a="http://schemas.openxmlformats.org/drawingml/2006/main">
              <a:ext uri="{FF2B5EF4-FFF2-40B4-BE49-F238E27FC236}">
                <a16:creationId xmlns:a16="http://schemas.microsoft.com/office/drawing/2014/main" id="{671ACB34-B073-4D38-B068-8F65164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5848350"/>
            <a:ext cx="1400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HDAC1</a:t>
            </a:r>
          </a:p>
        </p:txBody>
      </p:sp>
      <p:sp>
        <p:nvSpPr>
          <p:cNvPr id="87" name="Text MTOR">
            <a:extLst xmlns:a="http://schemas.openxmlformats.org/drawingml/2006/main">
              <a:ext uri="{FF2B5EF4-FFF2-40B4-BE49-F238E27FC236}">
                <a16:creationId xmlns:a16="http://schemas.microsoft.com/office/drawing/2014/main" id="{B00AF3C3-2401-416A-9BFF-4EF83FD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6943725"/>
            <a:ext cx="1400175" cy="1109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MTOR</a:t>
            </a:r>
          </a:p>
        </p:txBody>
      </p:sp>
      <p:sp>
        <p:nvSpPr>
          <p:cNvPr id="88" name="Text PIK3CA">
            <a:extLst xmlns:a="http://schemas.openxmlformats.org/drawingml/2006/main">
              <a:ext uri="{FF2B5EF4-FFF2-40B4-BE49-F238E27FC236}">
                <a16:creationId xmlns:a16="http://schemas.microsoft.com/office/drawing/2014/main" id="{9C1ABA99-DF3B-4B09-B796-04E72930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8053388"/>
            <a:ext cx="1400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PIK3CA</a:t>
            </a:r>
          </a:p>
        </p:txBody>
      </p:sp>
      <p:sp>
        <p:nvSpPr>
          <p:cNvPr id="89" name="Text SMAD3">
            <a:extLst xmlns:a="http://schemas.openxmlformats.org/drawingml/2006/main">
              <a:ext uri="{FF2B5EF4-FFF2-40B4-BE49-F238E27FC236}">
                <a16:creationId xmlns:a16="http://schemas.microsoft.com/office/drawing/2014/main" id="{76EC7560-9B43-4E13-8D23-4D87FC80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9148763"/>
            <a:ext cx="1400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SMAD3</a:t>
            </a:r>
          </a:p>
        </p:txBody>
      </p:sp>
      <p:sp>
        <p:nvSpPr>
          <p:cNvPr id="90" name="Text TP53">
            <a:extLst xmlns:a="http://schemas.openxmlformats.org/drawingml/2006/main">
              <a:ext uri="{FF2B5EF4-FFF2-40B4-BE49-F238E27FC236}">
                <a16:creationId xmlns:a16="http://schemas.microsoft.com/office/drawing/2014/main" id="{CEFC1C03-0142-4BDC-AE7E-B9335AD4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0148888"/>
            <a:ext cx="1400175" cy="1023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4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3">
                <a:solidFill>
                  <a:srgbClr val="000000"/>
                </a:solidFill>
                <a:latin typeface="Arial"/>
                <a:ea typeface="Arial"/>
                <a:cs typeface="Arial"/>
              </a:rPr>
              <a:t>TP53</a:t>
            </a:r>
          </a:p>
        </p:txBody>
      </p:sp>
    </p:spTree>
    <p:extLst>
      <p:ext uri="{BB962C8B-B14F-4D97-AF65-F5344CB8AC3E}">
        <p14:creationId xmlns:p14="http://schemas.microsoft.com/office/powerpoint/2010/main" val="673492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2026-09-08T03:37:44.2100000Z</dcterms:created>
  <dcterms:modified xsi:type="dcterms:W3CDTF">2026-09-08T03:37:44.2100000Z</dcterms:modified>
</coreProperties>
</file>