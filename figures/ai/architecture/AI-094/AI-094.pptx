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4c0d155e804fac" /><Relationship Type="http://schemas.openxmlformats.org/officeDocument/2006/relationships/extended-properties" Target="/docProps/app.xml" Id="R50d9d61e0d79419a" /><Relationship Type="http://schemas.openxmlformats.org/officeDocument/2006/relationships/officeDocument" Target="/ppt/presentation.xml" Id="R512d126a344d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1aef15846746b6"/>
  </p:sldMasterIdLst>
  <p:notesMasterIdLst>
    <p:notesMasterId xmlns:r="http://schemas.openxmlformats.org/officeDocument/2006/relationships" r:id="Rff207f6d08fb406d"/>
  </p:notesMasterIdLst>
  <p:sldIdLst>
    <p:sldId xmlns:r="http://schemas.openxmlformats.org/officeDocument/2006/relationships" id="256" r:id="Rdab62e42775a4ceb"/>
  </p:sldIdLst>
  <p:sldSz cx="6543675" cy="3829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95975d6e44d50" /><Relationship Type="http://schemas.openxmlformats.org/officeDocument/2006/relationships/slideMaster" Target="/ppt/slideMasters/slideMaster1.xml" Id="R3c1aef15846746b6" /><Relationship Type="http://schemas.openxmlformats.org/officeDocument/2006/relationships/notesMaster" Target="/ppt/notesMasters/notesMaster1.xml" Id="Rff207f6d08fb406d" /><Relationship Type="http://schemas.openxmlformats.org/officeDocument/2006/relationships/presProps" Target="/ppt/presProps.xml" Id="Rcfa4f34e68e24c96" /><Relationship Type="http://schemas.openxmlformats.org/officeDocument/2006/relationships/tableStyles" Target="/ppt/tableStyles.xml" Id="R4fe53860255947d4" /><Relationship Type="http://schemas.openxmlformats.org/officeDocument/2006/relationships/slide" Target="/ppt/slides/slide1.xml" Id="Rdab62e42775a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e467b1b27e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5c73684114d96" /><Relationship Type="http://schemas.openxmlformats.org/officeDocument/2006/relationships/notesMaster" Target="/ppt/notesMasters/notesMaster1.xml" Id="R5aff0f792cab410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素材ID：AI-094</ns1:t>
            </ns1:r>
          </ns1:p>
          <ns1:p>
            <ns1:r>
              <ns1:t>论文：Efficient Rectification of Neuro-Symbolic Reasoning Inconsistencies by Abductive Reflection</ns1:t>
            </ns1:r>
          </ns1:p>
          <ns1:p>
            <ns1:r>
              <ns1:t>会议：AAAI 2025</ns1:t>
            </ns1:r>
          </ns1:p>
          <ns1:p>
            <ns1:r>
              <ns1:t>奖项：Outstanding Paper</ns1:t>
            </ns1:r>
          </ns1:p>
          <ns1:p>
            <ns1:r>
              <ns1:t>图号：Figure 2，PDF第3页</ns1:t>
            </ns1:r>
          </ns1:p>
          <ns1:p>
            <ns1:r>
              <ns1:t>类型：系统架构</ns1:t>
            </ns1:r>
          </ns1:p>
          <ns1:p>
            <ns1:r>
              <ns1:t>借鉴点：把初始输出、反思二值向量、去错输出及知识库补全串起，突出原始预测与修复路径。</ns1:t>
            </ns1:r>
          </ns1:p>
          <ns1:p>
            <ns1:r>
              <ns1:t>论文URL：https://arxiv.org/abs/2412.08457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cf78448a645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b47ef5b5e64580" /><Relationship Type="http://schemas.openxmlformats.org/officeDocument/2006/relationships/slideLayout" Target="/ppt/slideLayouts/slideLayout1.xml" Id="Rd8bc067d17f642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c067d17f642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ee2de61db438f" /><Relationship Type="http://schemas.openxmlformats.org/officeDocument/2006/relationships/notesSlide" Target="/ppt/notesSlides/notesSlide1.xml" Id="R4147ee5178d044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AI-094-1">
            <a:extLst xmlns:a="http://schemas.openxmlformats.org/drawingml/2006/main">
              <a:ext uri="{FF2B5EF4-FFF2-40B4-BE49-F238E27FC236}">
                <a16:creationId xmlns:a16="http://schemas.microsoft.com/office/drawing/2014/main" id="{D25A0F07-6D79-479E-9289-E8682CE5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962025"/>
            <a:ext cx="2190750" cy="191452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</a:ln>
        </p:spPr>
      </p:sp>
      <p:sp>
        <p:nvSpPr>
          <p:cNvPr id="2" name="AI-094-2">
            <a:extLst xmlns:a="http://schemas.openxmlformats.org/drawingml/2006/main">
              <a:ext uri="{FF2B5EF4-FFF2-40B4-BE49-F238E27FC236}">
                <a16:creationId xmlns:a16="http://schemas.microsoft.com/office/drawing/2014/main" id="{F464D4F1-7EA1-4E98-A91F-FC60A419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00965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Neural Network f</a:t>
            </a:r>
          </a:p>
        </p:txBody>
      </p:sp>
      <p:sp>
        <p:nvSpPr>
          <p:cNvPr id="3" name="AI-094-3">
            <a:extLst xmlns:a="http://schemas.openxmlformats.org/drawingml/2006/main">
              <a:ext uri="{FF2B5EF4-FFF2-40B4-BE49-F238E27FC236}">
                <a16:creationId xmlns:a16="http://schemas.microsoft.com/office/drawing/2014/main" id="{7D45644F-821D-44A8-89CE-9830FD04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1666875"/>
            <a:ext cx="762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0">
            <a:noFill/>
          </a:ln>
        </p:spPr>
      </p:sp>
      <p:sp>
        <p:nvSpPr>
          <p:cNvPr id="4" name="AI-094-4">
            <a:extLst xmlns:a="http://schemas.openxmlformats.org/drawingml/2006/main">
              <a:ext uri="{FF2B5EF4-FFF2-40B4-BE49-F238E27FC236}">
                <a16:creationId xmlns:a16="http://schemas.microsoft.com/office/drawing/2014/main" id="{D1CF00C0-4334-4440-915A-724111FF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1666875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Body</a:t>
            </a:r>
          </a:p>
          <a:p xmlns:a="http://schemas.openxmlformats.org/drawingml/2006/main">
            <a:pPr algn="ctr">
              <a:defRPr sz="1388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Block f₁</a:t>
            </a:r>
          </a:p>
        </p:txBody>
      </p:sp>
      <p:sp>
        <p:nvSpPr>
          <p:cNvPr id="5" name="AI-094-5">
            <a:extLst xmlns:a="http://schemas.openxmlformats.org/drawingml/2006/main">
              <a:ext uri="{FF2B5EF4-FFF2-40B4-BE49-F238E27FC236}">
                <a16:creationId xmlns:a16="http://schemas.microsoft.com/office/drawing/2014/main" id="{9186310E-4238-4F2A-A8A0-B2DAD009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1323975"/>
            <a:ext cx="866775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DDECCA"/>
          </a:solidFill>
          <a:ln xmlns:a="http://schemas.openxmlformats.org/drawingml/2006/main" w="0">
            <a:noFill/>
          </a:ln>
        </p:spPr>
      </p:sp>
      <p:sp>
        <p:nvSpPr>
          <p:cNvPr id="6" name="AI-094-6">
            <a:extLst xmlns:a="http://schemas.openxmlformats.org/drawingml/2006/main">
              <a:ext uri="{FF2B5EF4-FFF2-40B4-BE49-F238E27FC236}">
                <a16:creationId xmlns:a16="http://schemas.microsoft.com/office/drawing/2014/main" id="{30F14B2A-8EDD-4717-AB59-4780B41B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1352550"/>
            <a:ext cx="866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B34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5B341"/>
                </a:solidFill>
                <a:latin typeface="Arial"/>
                <a:ea typeface="Arial"/>
                <a:cs typeface="Arial"/>
              </a:rPr>
              <a:t>Output</a:t>
            </a:r>
          </a:p>
          <a:p xmlns:a="http://schemas.openxmlformats.org/drawingml/2006/main">
            <a:pPr algn="ctr">
              <a:defRPr sz="1650" b="0" i="0">
                <a:solidFill>
                  <a:srgbClr val="65B34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5B341"/>
                </a:solidFill>
                <a:latin typeface="Arial"/>
                <a:ea typeface="Arial"/>
                <a:cs typeface="Arial"/>
              </a:rPr>
              <a:t>Layer f₂</a:t>
            </a:r>
          </a:p>
        </p:txBody>
      </p:sp>
      <p:sp>
        <p:nvSpPr>
          <p:cNvPr id="7" name="AI-094-7">
            <a:extLst xmlns:a="http://schemas.openxmlformats.org/drawingml/2006/main">
              <a:ext uri="{FF2B5EF4-FFF2-40B4-BE49-F238E27FC236}">
                <a16:creationId xmlns:a16="http://schemas.microsoft.com/office/drawing/2014/main" id="{AE893883-E1F7-4A8C-BBF2-3EF850B1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2057400"/>
            <a:ext cx="866775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C7DCEB"/>
          </a:solidFill>
          <a:ln xmlns:a="http://schemas.openxmlformats.org/drawingml/2006/main" w="0">
            <a:noFill/>
          </a:ln>
        </p:spPr>
      </p:sp>
      <p:sp>
        <p:nvSpPr>
          <p:cNvPr id="8" name="AI-094-8">
            <a:extLst xmlns:a="http://schemas.openxmlformats.org/drawingml/2006/main">
              <a:ext uri="{FF2B5EF4-FFF2-40B4-BE49-F238E27FC236}">
                <a16:creationId xmlns:a16="http://schemas.microsoft.com/office/drawing/2014/main" id="{FA8F9DDC-1823-449C-A4C4-207ABE84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085975"/>
            <a:ext cx="847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3184C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184C6"/>
                </a:solidFill>
                <a:latin typeface="Arial"/>
                <a:ea typeface="Arial"/>
                <a:cs typeface="Arial"/>
              </a:rPr>
              <a:t>Reflection</a:t>
            </a:r>
          </a:p>
          <a:p xmlns:a="http://schemas.openxmlformats.org/drawingml/2006/main">
            <a:pPr algn="ctr">
              <a:defRPr sz="1350" b="0" i="0">
                <a:solidFill>
                  <a:srgbClr val="3184C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184C6"/>
                </a:solidFill>
                <a:latin typeface="Arial"/>
                <a:ea typeface="Arial"/>
                <a:cs typeface="Arial"/>
              </a:rPr>
              <a:t>Layer R</a:t>
            </a:r>
          </a:p>
        </p:txBody>
      </p:sp>
      <p:sp>
        <p:nvSpPr>
          <p:cNvPr id="9" name="AI-094-9">
            <a:extLst xmlns:a="http://schemas.openxmlformats.org/drawingml/2006/main">
              <a:ext uri="{FF2B5EF4-FFF2-40B4-BE49-F238E27FC236}">
                <a16:creationId xmlns:a16="http://schemas.microsoft.com/office/drawing/2014/main" id="{F6214FCC-A839-4D56-B64C-698E12E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1714500"/>
            <a:ext cx="504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0" name="AI-094-10">
            <a:extLst xmlns:a="http://schemas.openxmlformats.org/drawingml/2006/main">
              <a:ext uri="{FF2B5EF4-FFF2-40B4-BE49-F238E27FC236}">
                <a16:creationId xmlns:a16="http://schemas.microsoft.com/office/drawing/2014/main" id="{43848150-BB81-41EA-A8A9-7426C75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1952625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1" name="line-11">
            <a:extLst xmlns:a="http://schemas.openxmlformats.org/drawingml/2006/main">
              <a:ext uri="{FF2B5EF4-FFF2-40B4-BE49-F238E27FC236}">
                <a16:creationId xmlns:a16="http://schemas.microsoft.com/office/drawing/2014/main" id="{D773B615-21B8-48E5-9E9E-3865AFB5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276225" cy="10"/>
          </a:xfrm>
          <a:custGeom xmlns:a="http://schemas.openxmlformats.org/drawingml/2006/main">
            <a:pathLst>
              <a:path w="276225" h="10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5C8E5AC8-27A0-47AB-BB7D-2A294BD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62" y="1930384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" name="line-13">
            <a:extLst xmlns:a="http://schemas.openxmlformats.org/drawingml/2006/main">
              <a:ext uri="{FF2B5EF4-FFF2-40B4-BE49-F238E27FC236}">
                <a16:creationId xmlns:a16="http://schemas.microsoft.com/office/drawing/2014/main" id="{ABD75154-FA52-4127-AB69-0B94D25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62150"/>
            <a:ext cx="104775" cy="10"/>
          </a:xfrm>
          <a:custGeom xmlns:a="http://schemas.openxmlformats.org/drawingml/2006/main">
            <a:pathLst>
              <a:path w="104775" h="10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C9E6769D-D250-4F65-8211-2B116246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19250"/>
            <a:ext cx="152400" cy="342900"/>
          </a:xfrm>
          <a:custGeom xmlns:a="http://schemas.openxmlformats.org/drawingml/2006/main">
            <a:pathLst>
              <a:path w="152400" h="342900">
                <a:moveTo>
                  <a:pt x="0" y="342900"/>
                </a:moveTo>
                <a:lnTo>
                  <a:pt x="0" y="0"/>
                </a:ln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BD24B"/>
            </a:solidFill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3143137C-5968-4D26-8B79-0DB12CDD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62150"/>
            <a:ext cx="152400" cy="390525"/>
          </a:xfrm>
          <a:custGeom xmlns:a="http://schemas.openxmlformats.org/drawingml/2006/main">
            <a:pathLst>
              <a:path w="152400" h="390525">
                <a:moveTo>
                  <a:pt x="0" y="0"/>
                </a:moveTo>
                <a:lnTo>
                  <a:pt x="0" y="390525"/>
                </a:lnTo>
                <a:lnTo>
                  <a:pt x="15240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3184C6"/>
            </a:solidFill>
          </a:ln>
        </p:spPr>
      </p:sp>
      <p:sp>
        <p:nvSpPr>
          <p:cNvPr id="16" name="AI-094-16">
            <a:extLst xmlns:a="http://schemas.openxmlformats.org/drawingml/2006/main">
              <a:ext uri="{FF2B5EF4-FFF2-40B4-BE49-F238E27FC236}">
                <a16:creationId xmlns:a16="http://schemas.microsoft.com/office/drawing/2014/main" id="{FF3D45AD-389C-4C46-B13E-D2146E10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8925" y="0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9B34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9B342"/>
                </a:solidFill>
                <a:latin typeface="Arial"/>
                <a:ea typeface="Arial"/>
                <a:cs typeface="Arial"/>
              </a:rPr>
              <a:t>Intuitive</a:t>
            </a:r>
          </a:p>
          <a:p xmlns:a="http://schemas.openxmlformats.org/drawingml/2006/main">
            <a:pPr algn="ctr">
              <a:defRPr sz="1575" b="0" i="0">
                <a:solidFill>
                  <a:srgbClr val="69B34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9B342"/>
                </a:solidFill>
                <a:latin typeface="Arial"/>
                <a:ea typeface="Arial"/>
                <a:cs typeface="Arial"/>
              </a:rPr>
              <a:t>Output ŷ</a:t>
            </a:r>
          </a:p>
        </p:txBody>
      </p:sp>
      <p:sp>
        <p:nvSpPr>
          <p:cNvPr id="17" name="AI-094-17">
            <a:extLst xmlns:a="http://schemas.openxmlformats.org/drawingml/2006/main">
              <a:ext uri="{FF2B5EF4-FFF2-40B4-BE49-F238E27FC236}">
                <a16:creationId xmlns:a16="http://schemas.microsoft.com/office/drawing/2014/main" id="{9E334A1A-1920-4229-8689-72363453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0"/>
            <a:ext cx="1123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3184C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184C6"/>
                </a:solidFill>
                <a:latin typeface="Arial"/>
                <a:ea typeface="Arial"/>
                <a:cs typeface="Arial"/>
              </a:rPr>
              <a:t>Error-</a:t>
            </a:r>
          </a:p>
          <a:p xmlns:a="http://schemas.openxmlformats.org/drawingml/2006/main">
            <a:pPr algn="ctr">
              <a:defRPr sz="1575" b="0" i="0">
                <a:solidFill>
                  <a:srgbClr val="3184C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184C6"/>
                </a:solidFill>
                <a:latin typeface="Arial"/>
                <a:ea typeface="Arial"/>
                <a:cs typeface="Arial"/>
              </a:rPr>
              <a:t>Removed ŷ′</a:t>
            </a:r>
          </a:p>
        </p:txBody>
      </p:sp>
      <p:sp>
        <p:nvSpPr>
          <p:cNvPr id="18" name="AI-094-18">
            <a:extLst xmlns:a="http://schemas.openxmlformats.org/drawingml/2006/main">
              <a:ext uri="{FF2B5EF4-FFF2-40B4-BE49-F238E27FC236}">
                <a16:creationId xmlns:a16="http://schemas.microsoft.com/office/drawing/2014/main" id="{2968CEFC-1894-4DD6-BA87-A2C1A92B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0"/>
            <a:ext cx="914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69FE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9FE8"/>
                </a:solidFill>
                <a:latin typeface="Arial"/>
                <a:ea typeface="Arial"/>
                <a:cs typeface="Arial"/>
              </a:rPr>
              <a:t>Final</a:t>
            </a:r>
          </a:p>
          <a:p xmlns:a="http://schemas.openxmlformats.org/drawingml/2006/main">
            <a:pPr algn="ctr">
              <a:defRPr sz="1575" b="0" i="0">
                <a:solidFill>
                  <a:srgbClr val="169FE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9FE8"/>
                </a:solidFill>
                <a:latin typeface="Arial"/>
                <a:ea typeface="Arial"/>
                <a:cs typeface="Arial"/>
              </a:rPr>
              <a:t>Output ȳ</a:t>
            </a:r>
          </a:p>
        </p:txBody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FB660E4B-4848-4569-BDCD-0C08CBC2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2925"/>
            <a:ext cx="47625" cy="1552575"/>
          </a:xfrm>
          <a:custGeom xmlns:a="http://schemas.openxmlformats.org/drawingml/2006/main">
            <a:pathLst>
              <a:path w="47625" h="1552575">
                <a:moveTo>
                  <a:pt x="47625" y="0"/>
                </a:moveTo>
                <a:lnTo>
                  <a:pt x="0" y="0"/>
                </a:lnTo>
                <a:lnTo>
                  <a:pt x="0" y="1552575"/>
                </a:lnTo>
                <a:lnTo>
                  <a:pt x="47625" y="15525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193011AC-B209-4A5E-973B-EB7452EC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2925"/>
            <a:ext cx="47625" cy="1552575"/>
          </a:xfrm>
          <a:custGeom xmlns:a="http://schemas.openxmlformats.org/drawingml/2006/main">
            <a:pathLst>
              <a:path w="47625" h="1552575">
                <a:moveTo>
                  <a:pt x="0" y="0"/>
                </a:moveTo>
                <a:lnTo>
                  <a:pt x="47625" y="0"/>
                </a:lnTo>
                <a:lnTo>
                  <a:pt x="47625" y="1552575"/>
                </a:lnTo>
                <a:lnTo>
                  <a:pt x="0" y="15525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EA0CA8ED-C9AF-4A34-AB86-BFB3C452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3400"/>
            <a:ext cx="47625" cy="1562100"/>
          </a:xfrm>
          <a:custGeom xmlns:a="http://schemas.openxmlformats.org/drawingml/2006/main">
            <a:pathLst>
              <a:path w="47625" h="1562100">
                <a:moveTo>
                  <a:pt x="47625" y="0"/>
                </a:moveTo>
                <a:lnTo>
                  <a:pt x="0" y="0"/>
                </a:lnTo>
                <a:lnTo>
                  <a:pt x="0" y="1562100"/>
                </a:lnTo>
                <a:lnTo>
                  <a:pt x="47625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FD55CE6A-723A-4A20-A6A4-4BEC6473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3400"/>
            <a:ext cx="47625" cy="1562100"/>
          </a:xfrm>
          <a:custGeom xmlns:a="http://schemas.openxmlformats.org/drawingml/2006/main">
            <a:pathLst>
              <a:path w="47625" h="1562100">
                <a:moveTo>
                  <a:pt x="0" y="0"/>
                </a:moveTo>
                <a:lnTo>
                  <a:pt x="47625" y="0"/>
                </a:lnTo>
                <a:lnTo>
                  <a:pt x="47625" y="1562100"/>
                </a:lnTo>
                <a:lnTo>
                  <a:pt x="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A9553CC7-AADB-4113-A8C3-054D4A23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3400"/>
            <a:ext cx="47625" cy="1562100"/>
          </a:xfrm>
          <a:custGeom xmlns:a="http://schemas.openxmlformats.org/drawingml/2006/main">
            <a:pathLst>
              <a:path w="47625" h="1562100">
                <a:moveTo>
                  <a:pt x="47625" y="0"/>
                </a:moveTo>
                <a:lnTo>
                  <a:pt x="0" y="0"/>
                </a:lnTo>
                <a:lnTo>
                  <a:pt x="0" y="1562100"/>
                </a:lnTo>
                <a:lnTo>
                  <a:pt x="47625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0A3E2F9D-2993-48A8-B3E4-CE1D5186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3400"/>
            <a:ext cx="47625" cy="1562100"/>
          </a:xfrm>
          <a:custGeom xmlns:a="http://schemas.openxmlformats.org/drawingml/2006/main">
            <a:pathLst>
              <a:path w="47625" h="1562100">
                <a:moveTo>
                  <a:pt x="0" y="0"/>
                </a:moveTo>
                <a:lnTo>
                  <a:pt x="47625" y="0"/>
                </a:lnTo>
                <a:lnTo>
                  <a:pt x="47625" y="1562100"/>
                </a:lnTo>
                <a:lnTo>
                  <a:pt x="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25" name="AI-094-25">
            <a:extLst xmlns:a="http://schemas.openxmlformats.org/drawingml/2006/main">
              <a:ext uri="{FF2B5EF4-FFF2-40B4-BE49-F238E27FC236}">
                <a16:creationId xmlns:a16="http://schemas.microsoft.com/office/drawing/2014/main" id="{67FADA2F-3F98-4CA9-BC8F-84D8444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5810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ŷ₁</a:t>
            </a:r>
          </a:p>
        </p:txBody>
      </p:sp>
      <p:sp>
        <p:nvSpPr>
          <p:cNvPr id="26" name="AI-094-26">
            <a:extLst xmlns:a="http://schemas.openxmlformats.org/drawingml/2006/main">
              <a:ext uri="{FF2B5EF4-FFF2-40B4-BE49-F238E27FC236}">
                <a16:creationId xmlns:a16="http://schemas.microsoft.com/office/drawing/2014/main" id="{87E2DF68-CBB3-4865-85A0-829DAE5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82867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ŷ₂</a:t>
            </a:r>
          </a:p>
        </p:txBody>
      </p:sp>
      <p:sp>
        <p:nvSpPr>
          <p:cNvPr id="27" name="AI-094-27">
            <a:extLst xmlns:a="http://schemas.openxmlformats.org/drawingml/2006/main">
              <a:ext uri="{FF2B5EF4-FFF2-40B4-BE49-F238E27FC236}">
                <a16:creationId xmlns:a16="http://schemas.microsoft.com/office/drawing/2014/main" id="{26BE1D14-977E-4D81-9632-8B1EBED8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0763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ŷ₃</a:t>
            </a:r>
          </a:p>
        </p:txBody>
      </p:sp>
      <p:sp>
        <p:nvSpPr>
          <p:cNvPr id="28" name="AI-094-28">
            <a:extLst xmlns:a="http://schemas.openxmlformats.org/drawingml/2006/main">
              <a:ext uri="{FF2B5EF4-FFF2-40B4-BE49-F238E27FC236}">
                <a16:creationId xmlns:a16="http://schemas.microsoft.com/office/drawing/2014/main" id="{054DEA05-7561-4A96-83E1-DCD36BCF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32397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ŷ₄</a:t>
            </a:r>
          </a:p>
        </p:txBody>
      </p:sp>
      <p:sp>
        <p:nvSpPr>
          <p:cNvPr id="29" name="AI-094-29">
            <a:extLst xmlns:a="http://schemas.openxmlformats.org/drawingml/2006/main">
              <a:ext uri="{FF2B5EF4-FFF2-40B4-BE49-F238E27FC236}">
                <a16:creationId xmlns:a16="http://schemas.microsoft.com/office/drawing/2014/main" id="{4F85C1CC-5977-473B-9228-FB198967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5716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0" name="AI-094-30">
            <a:extLst xmlns:a="http://schemas.openxmlformats.org/drawingml/2006/main">
              <a:ext uri="{FF2B5EF4-FFF2-40B4-BE49-F238E27FC236}">
                <a16:creationId xmlns:a16="http://schemas.microsoft.com/office/drawing/2014/main" id="{1D38112F-DFF0-43C0-A495-6B4E817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81927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ŷₙ</a:t>
            </a:r>
          </a:p>
        </p:txBody>
      </p:sp>
      <p:sp>
        <p:nvSpPr>
          <p:cNvPr id="31" name="AI-094-31">
            <a:extLst xmlns:a="http://schemas.openxmlformats.org/drawingml/2006/main">
              <a:ext uri="{FF2B5EF4-FFF2-40B4-BE49-F238E27FC236}">
                <a16:creationId xmlns:a16="http://schemas.microsoft.com/office/drawing/2014/main" id="{BBC86018-BB9A-46B2-B86E-6D91691B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5810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3184C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3184C6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32" name="AI-094-32">
            <a:extLst xmlns:a="http://schemas.openxmlformats.org/drawingml/2006/main">
              <a:ext uri="{FF2B5EF4-FFF2-40B4-BE49-F238E27FC236}">
                <a16:creationId xmlns:a16="http://schemas.microsoft.com/office/drawing/2014/main" id="{4818DAB9-421E-4B5E-8D7A-EA7234BC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82867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ŷ₂</a:t>
            </a:r>
          </a:p>
        </p:txBody>
      </p:sp>
      <p:sp>
        <p:nvSpPr>
          <p:cNvPr id="33" name="AI-094-33">
            <a:extLst xmlns:a="http://schemas.openxmlformats.org/drawingml/2006/main">
              <a:ext uri="{FF2B5EF4-FFF2-40B4-BE49-F238E27FC236}">
                <a16:creationId xmlns:a16="http://schemas.microsoft.com/office/drawing/2014/main" id="{2A30E959-B8B8-4BD5-BE73-924CC808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10763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ŷ₃</a:t>
            </a:r>
          </a:p>
        </p:txBody>
      </p:sp>
      <p:sp>
        <p:nvSpPr>
          <p:cNvPr id="34" name="AI-094-34">
            <a:extLst xmlns:a="http://schemas.openxmlformats.org/drawingml/2006/main">
              <a:ext uri="{FF2B5EF4-FFF2-40B4-BE49-F238E27FC236}">
                <a16:creationId xmlns:a16="http://schemas.microsoft.com/office/drawing/2014/main" id="{4D74DA7B-30F8-40DF-BBD5-3AA8CAE6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132397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3184C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3184C6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35" name="AI-094-35">
            <a:extLst xmlns:a="http://schemas.openxmlformats.org/drawingml/2006/main">
              <a:ext uri="{FF2B5EF4-FFF2-40B4-BE49-F238E27FC236}">
                <a16:creationId xmlns:a16="http://schemas.microsoft.com/office/drawing/2014/main" id="{6AFA7881-778A-4955-A72A-87C9E8F2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15716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6" name="AI-094-36">
            <a:extLst xmlns:a="http://schemas.openxmlformats.org/drawingml/2006/main">
              <a:ext uri="{FF2B5EF4-FFF2-40B4-BE49-F238E27FC236}">
                <a16:creationId xmlns:a16="http://schemas.microsoft.com/office/drawing/2014/main" id="{AD4F0637-85FF-43E6-A52E-14458AD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181927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ŷₙ</a:t>
            </a:r>
          </a:p>
        </p:txBody>
      </p:sp>
      <p:sp>
        <p:nvSpPr>
          <p:cNvPr id="37" name="AI-094-37">
            <a:extLst xmlns:a="http://schemas.openxmlformats.org/drawingml/2006/main">
              <a:ext uri="{FF2B5EF4-FFF2-40B4-BE49-F238E27FC236}">
                <a16:creationId xmlns:a16="http://schemas.microsoft.com/office/drawing/2014/main" id="{B33D2F20-B8E4-4F79-97F4-07B8FAFD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58102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169F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169FE8"/>
                </a:solidFill>
                <a:latin typeface="Times New Roman"/>
                <a:ea typeface="Times New Roman"/>
                <a:cs typeface="Times New Roman"/>
              </a:rPr>
              <a:t>δ(ŷ₁)</a:t>
            </a:r>
          </a:p>
        </p:txBody>
      </p:sp>
      <p:sp>
        <p:nvSpPr>
          <p:cNvPr id="38" name="AI-094-38">
            <a:extLst xmlns:a="http://schemas.openxmlformats.org/drawingml/2006/main">
              <a:ext uri="{FF2B5EF4-FFF2-40B4-BE49-F238E27FC236}">
                <a16:creationId xmlns:a16="http://schemas.microsoft.com/office/drawing/2014/main" id="{96D7798B-3108-4EEC-B8CC-8D38282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8286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ŷ₂</a:t>
            </a:r>
          </a:p>
        </p:txBody>
      </p:sp>
      <p:sp>
        <p:nvSpPr>
          <p:cNvPr id="39" name="AI-094-39">
            <a:extLst xmlns:a="http://schemas.openxmlformats.org/drawingml/2006/main">
              <a:ext uri="{FF2B5EF4-FFF2-40B4-BE49-F238E27FC236}">
                <a16:creationId xmlns:a16="http://schemas.microsoft.com/office/drawing/2014/main" id="{84DD36EE-57FB-422C-9063-03C8C484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107632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ŷ₃</a:t>
            </a:r>
          </a:p>
        </p:txBody>
      </p:sp>
      <p:sp>
        <p:nvSpPr>
          <p:cNvPr id="40" name="AI-094-40">
            <a:extLst xmlns:a="http://schemas.openxmlformats.org/drawingml/2006/main">
              <a:ext uri="{FF2B5EF4-FFF2-40B4-BE49-F238E27FC236}">
                <a16:creationId xmlns:a16="http://schemas.microsoft.com/office/drawing/2014/main" id="{16F9001A-3B69-46BE-B5D6-C8675443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13239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169F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169FE8"/>
                </a:solidFill>
                <a:latin typeface="Times New Roman"/>
                <a:ea typeface="Times New Roman"/>
                <a:cs typeface="Times New Roman"/>
              </a:rPr>
              <a:t>δ(ŷ₄)</a:t>
            </a:r>
          </a:p>
        </p:txBody>
      </p:sp>
      <p:sp>
        <p:nvSpPr>
          <p:cNvPr id="41" name="AI-094-41">
            <a:extLst xmlns:a="http://schemas.openxmlformats.org/drawingml/2006/main">
              <a:ext uri="{FF2B5EF4-FFF2-40B4-BE49-F238E27FC236}">
                <a16:creationId xmlns:a16="http://schemas.microsoft.com/office/drawing/2014/main" id="{A9825203-482D-465F-943A-9CE22CC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157162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2" name="AI-094-42">
            <a:extLst xmlns:a="http://schemas.openxmlformats.org/drawingml/2006/main">
              <a:ext uri="{FF2B5EF4-FFF2-40B4-BE49-F238E27FC236}">
                <a16:creationId xmlns:a16="http://schemas.microsoft.com/office/drawing/2014/main" id="{96D58519-D74B-4990-AA14-9EA5430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1819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75BC5F"/>
                </a:solidFill>
                <a:latin typeface="Times New Roman"/>
                <a:ea typeface="Times New Roman"/>
                <a:cs typeface="Times New Roman"/>
              </a:rPr>
              <a:t>ŷₙ</a:t>
            </a:r>
          </a:p>
        </p:txBody>
      </p:sp>
      <p:sp>
        <p:nvSpPr>
          <p:cNvPr id="43" name="line-43">
            <a:extLst xmlns:a="http://schemas.openxmlformats.org/drawingml/2006/main">
              <a:ext uri="{FF2B5EF4-FFF2-40B4-BE49-F238E27FC236}">
                <a16:creationId xmlns:a16="http://schemas.microsoft.com/office/drawing/2014/main" id="{12FEBACA-E356-4844-B2D4-1AC0C4BF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95425"/>
            <a:ext cx="485775" cy="10"/>
          </a:xfrm>
          <a:custGeom xmlns:a="http://schemas.openxmlformats.org/drawingml/2006/main">
            <a:pathLst>
              <a:path w="485775" h="10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8BD24B"/>
            </a:solidFill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B37AC223-866A-4BA4-BCC8-2B84ADF1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612" y="1463659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D24B"/>
          </a:solidFill>
          <a:ln xmlns:a="http://schemas.openxmlformats.org/drawingml/2006/main" w="16193">
            <a:solidFill>
              <a:srgbClr val="8BD24B"/>
            </a:solidFill>
          </a:ln>
        </p:spPr>
      </p:sp>
      <p:sp>
        <p:nvSpPr>
          <p:cNvPr id="45" name="line-45">
            <a:extLst xmlns:a="http://schemas.openxmlformats.org/drawingml/2006/main">
              <a:ext uri="{FF2B5EF4-FFF2-40B4-BE49-F238E27FC236}">
                <a16:creationId xmlns:a16="http://schemas.microsoft.com/office/drawing/2014/main" id="{B9B33FC6-6E73-449A-A8F4-91F63F7D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495425"/>
            <a:ext cx="904875" cy="10"/>
          </a:xfrm>
          <a:custGeom xmlns:a="http://schemas.openxmlformats.org/drawingml/2006/main">
            <a:pathLst>
              <a:path w="904875" h="10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8BD24B"/>
            </a:solidFill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66A9E1D7-2ABE-4168-9A60-3A2FCD9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337" y="1463659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D24B"/>
          </a:solidFill>
          <a:ln xmlns:a="http://schemas.openxmlformats.org/drawingml/2006/main" w="16193">
            <a:solidFill>
              <a:srgbClr val="8BD24B"/>
            </a:solidFill>
          </a:ln>
        </p:spPr>
      </p:sp>
      <p:sp>
        <p:nvSpPr>
          <p:cNvPr id="47" name="line-47">
            <a:extLst xmlns:a="http://schemas.openxmlformats.org/drawingml/2006/main">
              <a:ext uri="{FF2B5EF4-FFF2-40B4-BE49-F238E27FC236}">
                <a16:creationId xmlns:a16="http://schemas.microsoft.com/office/drawing/2014/main" id="{A8A66544-4680-4E6B-B0A2-CB8E66BD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495425"/>
            <a:ext cx="1181100" cy="10"/>
          </a:xfrm>
          <a:custGeom xmlns:a="http://schemas.openxmlformats.org/drawingml/2006/main">
            <a:pathLst>
              <a:path w="1181100" h="10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69FE8"/>
            </a:solidFill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2FF772C3-787D-4128-99B0-05DF5B4F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287" y="1463659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9FE8"/>
          </a:solidFill>
          <a:ln xmlns:a="http://schemas.openxmlformats.org/drawingml/2006/main" w="16193">
            <a:solidFill>
              <a:srgbClr val="169FE8"/>
            </a:solidFill>
          </a:ln>
        </p:spPr>
      </p:sp>
      <p:sp>
        <p:nvSpPr>
          <p:cNvPr id="49" name="AI-094-49">
            <a:extLst xmlns:a="http://schemas.openxmlformats.org/drawingml/2006/main">
              <a:ext uri="{FF2B5EF4-FFF2-40B4-BE49-F238E27FC236}">
                <a16:creationId xmlns:a16="http://schemas.microsoft.com/office/drawing/2014/main" id="{390C860A-DD44-4C42-8CEE-386952E6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1514475"/>
            <a:ext cx="962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 i="0">
                <a:solidFill>
                  <a:srgbClr val="169FE8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69FE8"/>
                </a:solidFill>
                <a:latin typeface="Arial"/>
                <a:ea typeface="Arial"/>
                <a:cs typeface="Arial"/>
              </a:rPr>
              <a:t>Abduction</a:t>
            </a:r>
          </a:p>
        </p:txBody>
      </p:sp>
      <p:sp>
        <p:nvSpPr>
          <p:cNvPr id="50" name="AI-094-50">
            <a:extLst xmlns:a="http://schemas.openxmlformats.org/drawingml/2006/main">
              <a:ext uri="{FF2B5EF4-FFF2-40B4-BE49-F238E27FC236}">
                <a16:creationId xmlns:a16="http://schemas.microsoft.com/office/drawing/2014/main" id="{02732D15-F3F5-4A76-A50D-673E37F7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1762125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69F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169FE8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51" name="AI-094-51">
            <a:extLst xmlns:a="http://schemas.openxmlformats.org/drawingml/2006/main">
              <a:ext uri="{FF2B5EF4-FFF2-40B4-BE49-F238E27FC236}">
                <a16:creationId xmlns:a16="http://schemas.microsoft.com/office/drawing/2014/main" id="{1CE8525D-7957-4CD1-8DF5-E626399F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0859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3184C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184C6"/>
                </a:solidFill>
                <a:latin typeface="Arial"/>
                <a:ea typeface="Arial"/>
                <a:cs typeface="Arial"/>
              </a:rPr>
              <a:t>Reflection r</a:t>
            </a:r>
          </a:p>
        </p:txBody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42710383-2681-440C-A27C-CAF0561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1725"/>
            <a:ext cx="47625" cy="1304925"/>
          </a:xfrm>
          <a:custGeom xmlns:a="http://schemas.openxmlformats.org/drawingml/2006/main">
            <a:pathLst>
              <a:path w="47625" h="1304925">
                <a:moveTo>
                  <a:pt x="47625" y="0"/>
                </a:moveTo>
                <a:lnTo>
                  <a:pt x="0" y="0"/>
                </a:lnTo>
                <a:lnTo>
                  <a:pt x="0" y="1304925"/>
                </a:lnTo>
                <a:lnTo>
                  <a:pt x="47625" y="13049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9E6E123B-C1E0-439E-9B3C-99BE6DFB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71725"/>
            <a:ext cx="47625" cy="1304925"/>
          </a:xfrm>
          <a:custGeom xmlns:a="http://schemas.openxmlformats.org/drawingml/2006/main">
            <a:pathLst>
              <a:path w="47625" h="1304925">
                <a:moveTo>
                  <a:pt x="0" y="0"/>
                </a:moveTo>
                <a:lnTo>
                  <a:pt x="47625" y="0"/>
                </a:lnTo>
                <a:lnTo>
                  <a:pt x="47625" y="1304925"/>
                </a:lnTo>
                <a:lnTo>
                  <a:pt x="0" y="13049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54" name="AI-094-54">
            <a:extLst xmlns:a="http://schemas.openxmlformats.org/drawingml/2006/main">
              <a:ext uri="{FF2B5EF4-FFF2-40B4-BE49-F238E27FC236}">
                <a16:creationId xmlns:a16="http://schemas.microsoft.com/office/drawing/2014/main" id="{DC2FB8EA-5751-4FE7-B2CE-7D08273A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2352675"/>
            <a:ext cx="257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3184C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3184C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5" name="AI-094-55">
            <a:extLst xmlns:a="http://schemas.openxmlformats.org/drawingml/2006/main">
              <a:ext uri="{FF2B5EF4-FFF2-40B4-BE49-F238E27FC236}">
                <a16:creationId xmlns:a16="http://schemas.microsoft.com/office/drawing/2014/main" id="{7881DBC0-239A-4335-9F77-18DC5411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2571750"/>
            <a:ext cx="257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6" name="AI-094-56">
            <a:extLst xmlns:a="http://schemas.openxmlformats.org/drawingml/2006/main">
              <a:ext uri="{FF2B5EF4-FFF2-40B4-BE49-F238E27FC236}">
                <a16:creationId xmlns:a16="http://schemas.microsoft.com/office/drawing/2014/main" id="{1A058481-C23A-42BF-A0E0-0F9EFA75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2790825"/>
            <a:ext cx="257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7" name="AI-094-57">
            <a:extLst xmlns:a="http://schemas.openxmlformats.org/drawingml/2006/main">
              <a:ext uri="{FF2B5EF4-FFF2-40B4-BE49-F238E27FC236}">
                <a16:creationId xmlns:a16="http://schemas.microsoft.com/office/drawing/2014/main" id="{6AA871EB-703D-4AAB-BA53-938D52E9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009900"/>
            <a:ext cx="257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3184C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3184C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8" name="AI-094-58">
            <a:extLst xmlns:a="http://schemas.openxmlformats.org/drawingml/2006/main">
              <a:ext uri="{FF2B5EF4-FFF2-40B4-BE49-F238E27FC236}">
                <a16:creationId xmlns:a16="http://schemas.microsoft.com/office/drawing/2014/main" id="{814308EA-2137-40E1-A08D-DBA9EA9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228975"/>
            <a:ext cx="257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59" name="AI-094-59">
            <a:extLst xmlns:a="http://schemas.openxmlformats.org/drawingml/2006/main">
              <a:ext uri="{FF2B5EF4-FFF2-40B4-BE49-F238E27FC236}">
                <a16:creationId xmlns:a16="http://schemas.microsoft.com/office/drawing/2014/main" id="{BBFEE523-ECDA-4C59-B358-04E8BDC5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448050"/>
            <a:ext cx="257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0" name="line-60">
            <a:extLst xmlns:a="http://schemas.openxmlformats.org/drawingml/2006/main">
              <a:ext uri="{FF2B5EF4-FFF2-40B4-BE49-F238E27FC236}">
                <a16:creationId xmlns:a16="http://schemas.microsoft.com/office/drawing/2014/main" id="{4864224B-1126-4C26-B1D4-D2D3CEF3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86025"/>
            <a:ext cx="485775" cy="10"/>
          </a:xfrm>
          <a:custGeom xmlns:a="http://schemas.openxmlformats.org/drawingml/2006/main">
            <a:pathLst>
              <a:path w="485775" h="10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184C6"/>
            </a:solidFill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F324C097-BD08-4FCD-8262-6736A1D2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612" y="2454259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84C6"/>
          </a:solidFill>
          <a:ln xmlns:a="http://schemas.openxmlformats.org/drawingml/2006/main" w="16193">
            <a:solidFill>
              <a:srgbClr val="3184C6"/>
            </a:solidFill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7CCBB3FB-DC90-4860-8F2A-59B2B634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495425"/>
            <a:ext cx="438150" cy="990600"/>
          </a:xfrm>
          <a:custGeom xmlns:a="http://schemas.openxmlformats.org/drawingml/2006/main">
            <a:pathLst>
              <a:path w="438150" h="990600">
                <a:moveTo>
                  <a:pt x="0" y="990600"/>
                </a:moveTo>
                <a:lnTo>
                  <a:pt x="438150" y="990600"/>
                </a:ln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184C6"/>
            </a:solidFill>
          </a:ln>
        </p:spPr>
      </p:sp>
      <p:sp>
        <p:nvSpPr>
          <p:cNvPr id="63" name="line-63">
            <a:extLst xmlns:a="http://schemas.openxmlformats.org/drawingml/2006/main">
              <a:ext uri="{FF2B5EF4-FFF2-40B4-BE49-F238E27FC236}">
                <a16:creationId xmlns:a16="http://schemas.microsoft.com/office/drawing/2014/main" id="{AAC13859-0086-46AA-A3FE-DEB66489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95425"/>
            <a:ext cx="10" cy="800100"/>
          </a:xfrm>
          <a:custGeom xmlns:a="http://schemas.openxmlformats.org/drawingml/2006/main">
            <a:pathLst>
              <a:path w="10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69FE8"/>
            </a:solidFill>
          </a:ln>
        </p:spPr>
      </p:sp>
      <p:sp>
        <p:nvSpPr>
          <p:cNvPr id="64" name="AI-094-64">
            <a:extLst xmlns:a="http://schemas.openxmlformats.org/drawingml/2006/main">
              <a:ext uri="{FF2B5EF4-FFF2-40B4-BE49-F238E27FC236}">
                <a16:creationId xmlns:a16="http://schemas.microsoft.com/office/drawing/2014/main" id="{D127A4C4-568A-4977-9A06-8158F830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371725"/>
            <a:ext cx="71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D"/>
          </a:solidFill>
          <a:ln xmlns:a="http://schemas.openxmlformats.org/drawingml/2006/main" w="11430">
            <a:solidFill>
              <a:srgbClr val="169FE8"/>
            </a:solidFill>
          </a:ln>
        </p:spPr>
      </p:sp>
      <p:sp>
        <p:nvSpPr>
          <p:cNvPr id="65" name="AI-094-65">
            <a:extLst xmlns:a="http://schemas.openxmlformats.org/drawingml/2006/main">
              <a:ext uri="{FF2B5EF4-FFF2-40B4-BE49-F238E27FC236}">
                <a16:creationId xmlns:a16="http://schemas.microsoft.com/office/drawing/2014/main" id="{10A8816C-8D16-409B-B364-90899AA0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581275"/>
            <a:ext cx="71437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8FD"/>
          </a:solidFill>
          <a:ln xmlns:a="http://schemas.openxmlformats.org/drawingml/2006/main" w="11430">
            <a:solidFill>
              <a:srgbClr val="169FE8"/>
            </a:solidFill>
          </a:ln>
        </p:spPr>
      </p:sp>
      <p:sp>
        <p:nvSpPr>
          <p:cNvPr id="66" name="AI-094-66">
            <a:extLst xmlns:a="http://schemas.openxmlformats.org/drawingml/2006/main">
              <a:ext uri="{FF2B5EF4-FFF2-40B4-BE49-F238E27FC236}">
                <a16:creationId xmlns:a16="http://schemas.microsoft.com/office/drawing/2014/main" id="{21D80F02-F599-43E8-8E5A-F2E433D4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419350"/>
            <a:ext cx="695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D"/>
          </a:solidFill>
          <a:ln xmlns:a="http://schemas.openxmlformats.org/drawingml/2006/main" w="0">
            <a:noFill/>
          </a:ln>
        </p:spPr>
      </p:sp>
      <p:sp>
        <p:nvSpPr>
          <p:cNvPr id="67" name="AI-094-67">
            <a:extLst xmlns:a="http://schemas.openxmlformats.org/drawingml/2006/main">
              <a:ext uri="{FF2B5EF4-FFF2-40B4-BE49-F238E27FC236}">
                <a16:creationId xmlns:a16="http://schemas.microsoft.com/office/drawing/2014/main" id="{A4782A2C-2CCD-4802-8BC5-394E768B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295525"/>
            <a:ext cx="71437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8FD"/>
          </a:solidFill>
          <a:ln xmlns:a="http://schemas.openxmlformats.org/drawingml/2006/main" w="11430">
            <a:solidFill>
              <a:srgbClr val="169FE8"/>
            </a:solidFill>
          </a:ln>
        </p:spPr>
      </p:sp>
      <p:sp>
        <p:nvSpPr>
          <p:cNvPr id="68" name="AI-094-68">
            <a:extLst xmlns:a="http://schemas.openxmlformats.org/drawingml/2006/main">
              <a:ext uri="{FF2B5EF4-FFF2-40B4-BE49-F238E27FC236}">
                <a16:creationId xmlns:a16="http://schemas.microsoft.com/office/drawing/2014/main" id="{7542F1A6-4D1E-4628-BCCB-9432D992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24669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69F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69FE8"/>
                </a:solidFill>
                <a:latin typeface="Times New Roman"/>
                <a:ea typeface="Times New Roman"/>
                <a:cs typeface="Times New Roman"/>
              </a:rPr>
              <a:t>𝒦ℬ</a:t>
            </a:r>
          </a:p>
        </p:txBody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911B98A5-60C7-4A80-9B77-2AF83953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47950"/>
            <a:ext cx="2695575" cy="1076325"/>
          </a:xfrm>
          <a:custGeom xmlns:a="http://schemas.openxmlformats.org/drawingml/2006/main">
            <a:pathLst>
              <a:path w="2695575" h="1076325">
                <a:moveTo>
                  <a:pt x="2695575" y="104775"/>
                </a:moveTo>
                <a:lnTo>
                  <a:pt x="2695575" y="1076325"/>
                </a:lnTo>
                <a:lnTo>
                  <a:pt x="0" y="10763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184C6"/>
            </a:solidFill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75274325-98EC-4C07-B0AC-0E1BED6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47950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85725"/>
                </a:moveTo>
                <a:lnTo>
                  <a:pt x="47625" y="0"/>
                </a:lnTo>
                <a:lnTo>
                  <a:pt x="95250" y="85725"/>
                </a:lnTo>
                <a:close/>
              </a:path>
            </a:pathLst>
          </a:custGeom>
          <a:solidFill xmlns:a="http://schemas.openxmlformats.org/drawingml/2006/main">
            <a:srgbClr val="3184C6"/>
          </a:solidFill>
          <a:ln xmlns:a="http://schemas.openxmlformats.org/drawingml/2006/main" w="13335">
            <a:solidFill>
              <a:srgbClr val="3184C6"/>
            </a:solidFill>
          </a:ln>
        </p:spPr>
      </p:sp>
    </p:spTree>
    <p:extLst>
      <p:ext uri="{BB962C8B-B14F-4D97-AF65-F5344CB8AC3E}">
        <p14:creationId xmlns:p14="http://schemas.microsoft.com/office/powerpoint/2010/main" val="848443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2026-09-08T04:41:35.7480000Z</dcterms:created>
  <dcterms:modified xsi:type="dcterms:W3CDTF">2026-09-08T04:41:35.7480000Z</dcterms:modified>
</coreProperties>
</file>