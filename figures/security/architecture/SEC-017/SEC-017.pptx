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d6db4fd5a44771" /><Relationship Type="http://schemas.openxmlformats.org/officeDocument/2006/relationships/extended-properties" Target="/docProps/app.xml" Id="Rad6d1294002d4231" /><Relationship Type="http://schemas.openxmlformats.org/officeDocument/2006/relationships/officeDocument" Target="/ppt/presentation.xml" Id="R914cdd70927843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732ebb573f42a6"/>
  </p:sldMasterIdLst>
  <p:notesMasterIdLst>
    <p:notesMasterId xmlns:r="http://schemas.openxmlformats.org/officeDocument/2006/relationships" r:id="Rf0937e22a7f74a72"/>
  </p:notesMasterIdLst>
  <p:sldIdLst>
    <p:sldId xmlns:r="http://schemas.openxmlformats.org/officeDocument/2006/relationships" id="256" r:id="Re99b06390a034a1e"/>
  </p:sldIdLst>
  <p:sldSz cx="16192500" cy="106013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f6c7a756d34e3f" /><Relationship Type="http://schemas.openxmlformats.org/officeDocument/2006/relationships/slideMaster" Target="/ppt/slideMasters/slideMaster1.xml" Id="R62732ebb573f42a6" /><Relationship Type="http://schemas.openxmlformats.org/officeDocument/2006/relationships/notesMaster" Target="/ppt/notesMasters/notesMaster1.xml" Id="Rf0937e22a7f74a72" /><Relationship Type="http://schemas.openxmlformats.org/officeDocument/2006/relationships/presProps" Target="/ppt/presProps.xml" Id="R1247a9e4f4b54bc6" /><Relationship Type="http://schemas.openxmlformats.org/officeDocument/2006/relationships/tableStyles" Target="/ppt/tableStyles.xml" Id="Rb10d03ced78e4c0e" /><Relationship Type="http://schemas.openxmlformats.org/officeDocument/2006/relationships/slide" Target="/ppt/slides/slide1.xml" Id="Re99b06390a034a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ca405dde6b4c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8100" dist="21299" dir="3806097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f027e75114446e" /><Relationship Type="http://schemas.openxmlformats.org/officeDocument/2006/relationships/notesMaster" Target="/ppt/notesMasters/notesMaster1.xml" Id="R0d69d44657bb44c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素材ID：SEC-017</ns1:t>
            </ns1:r>
          </ns1:p>
          <ns1:p>
            <ns1:r>
              <ns1:t>论文：LOKI: Proactively Discovering Online Scam Websites by Mining Toxic Search Queries</ns1:t>
            </ns1:r>
          </ns1:p>
          <ns1:p>
            <ns1:r>
              <ns1:t>会议：NDSS 2026</ns1:t>
            </ns1:r>
          </ns1:p>
          <ns1:p>
            <ns1:r>
              <ns1:t>奖项：Best Paper Award</ns1:t>
            </ns1:r>
          </ns1:p>
          <ns1:p>
            <ns1:r>
              <ns1:t>图号：Figure 2，PDF第11页</ns1:t>
            </ns1:r>
          </ns1:p>
          <ns1:p>
            <ns1:r>
              <ns1:t>类型：系统架构</ns1:t>
            </ns1:r>
          </ns1:p>
          <ns1:p>
            <ns1:r>
              <ns1:t>借鉴点：输入、双编码器、教师融合分支和学生分支分区明确，注意力对齐与hint监督跨分支连接便于复用。</ns1:t>
            </ns1:r>
          </ns1:p>
          <ns1:p>
            <ns1:r>
              <ns1:t>论文URL：https://www.ndss-symposium.org/wp-content/uploads/2026-s184-paper.pdf</ns1:t>
            </ns1:r>
          </ns1:p>
          <ns1:p>
            <ns1:r>
              <ns1:t>官方获奖URL：https://www.ndss-symposium.org/ndss2026/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dabb61c62a4e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a214401e5140b0" /><Relationship Type="http://schemas.openxmlformats.org/officeDocument/2006/relationships/slideLayout" Target="/ppt/slideLayouts/slideLayout1.xml" Id="R785470638aa14a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5470638aa14a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8100" dist="21299" dir="3806097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89f48a85b4bca" /><Relationship Type="http://schemas.openxmlformats.org/officeDocument/2006/relationships/image" Target="/ppt/media/image.png" Id="R8f809d7dc82943b9" /><Relationship Type="http://schemas.openxmlformats.org/officeDocument/2006/relationships/image" Target="/ppt/media/image2.png" Id="Re62cfb0b79d54341" /><Relationship Type="http://schemas.openxmlformats.org/officeDocument/2006/relationships/notesSlide" Target="/ppt/notesSlides/notesSlide1.xml" Id="Re87e398f0c924f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SEC-017-1">
            <a:extLst xmlns:a="http://schemas.openxmlformats.org/drawingml/2006/main">
              <a:ext uri="{FF2B5EF4-FFF2-40B4-BE49-F238E27FC236}">
                <a16:creationId xmlns:a16="http://schemas.microsoft.com/office/drawing/2014/main" id="{25FBE0F8-473D-4800-85AA-23E0B187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171450"/>
            <a:ext cx="15039975" cy="10858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F5DFF"/>
              </a:gs>
              <a:gs pos="100000">
                <a:srgbClr val="FF2464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" name="SEC-017-2">
            <a:extLst xmlns:a="http://schemas.openxmlformats.org/drawingml/2006/main">
              <a:ext uri="{FF2B5EF4-FFF2-40B4-BE49-F238E27FC236}">
                <a16:creationId xmlns:a16="http://schemas.microsoft.com/office/drawing/2014/main" id="{8EF7A4B1-672B-4178-B063-ECCF5F7B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200025"/>
            <a:ext cx="14982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SEC-017-3">
            <a:extLst xmlns:a="http://schemas.openxmlformats.org/drawingml/2006/main">
              <a:ext uri="{FF2B5EF4-FFF2-40B4-BE49-F238E27FC236}">
                <a16:creationId xmlns:a16="http://schemas.microsoft.com/office/drawing/2014/main" id="{F17BF84E-0084-453B-B05D-E1C111EE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1790700"/>
            <a:ext cx="6819900" cy="21621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F5DFF"/>
              </a:gs>
              <a:gs pos="100000">
                <a:srgbClr val="FF2464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" name="SEC-017-4">
            <a:extLst xmlns:a="http://schemas.openxmlformats.org/drawingml/2006/main">
              <a:ext uri="{FF2B5EF4-FFF2-40B4-BE49-F238E27FC236}">
                <a16:creationId xmlns:a16="http://schemas.microsoft.com/office/drawing/2014/main" id="{7608168A-9EBC-4A70-89F0-BE476F10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4775" y="1819275"/>
            <a:ext cx="676275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SEC-017-5">
            <a:extLst xmlns:a="http://schemas.openxmlformats.org/drawingml/2006/main">
              <a:ext uri="{FF2B5EF4-FFF2-40B4-BE49-F238E27FC236}">
                <a16:creationId xmlns:a16="http://schemas.microsoft.com/office/drawing/2014/main" id="{0B683752-5224-4F89-ABD6-3F674998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8050" y="1790700"/>
            <a:ext cx="4229100" cy="21621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F5DFF"/>
              </a:gs>
              <a:gs pos="100000">
                <a:srgbClr val="FF2464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6" name="SEC-017-6">
            <a:extLst xmlns:a="http://schemas.openxmlformats.org/drawingml/2006/main">
              <a:ext uri="{FF2B5EF4-FFF2-40B4-BE49-F238E27FC236}">
                <a16:creationId xmlns:a16="http://schemas.microsoft.com/office/drawing/2014/main" id="{8207D3AA-CE7A-4BFC-BCD5-3BA8F629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6625" y="1819275"/>
            <a:ext cx="417195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SEC-017-7">
            <a:extLst xmlns:a="http://schemas.openxmlformats.org/drawingml/2006/main">
              <a:ext uri="{FF2B5EF4-FFF2-40B4-BE49-F238E27FC236}">
                <a16:creationId xmlns:a16="http://schemas.microsoft.com/office/drawing/2014/main" id="{5218F0FD-59DF-439F-B83D-374FDCE9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5848350"/>
            <a:ext cx="5495925" cy="4572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F5DFF"/>
              </a:gs>
              <a:gs pos="100000">
                <a:srgbClr val="FF2464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8" name="SEC-017-8">
            <a:extLst xmlns:a="http://schemas.openxmlformats.org/drawingml/2006/main">
              <a:ext uri="{FF2B5EF4-FFF2-40B4-BE49-F238E27FC236}">
                <a16:creationId xmlns:a16="http://schemas.microsoft.com/office/drawing/2014/main" id="{CD45325A-7C97-43E9-93BF-C9C4A5EE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5876925"/>
            <a:ext cx="5438775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SEC-017-9">
            <a:extLst xmlns:a="http://schemas.openxmlformats.org/drawingml/2006/main">
              <a:ext uri="{FF2B5EF4-FFF2-40B4-BE49-F238E27FC236}">
                <a16:creationId xmlns:a16="http://schemas.microsoft.com/office/drawing/2014/main" id="{8BB137B1-9FC7-4411-B3C3-65EA8610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2925" y="4495800"/>
            <a:ext cx="6524625" cy="59245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F5DFF"/>
              </a:gs>
              <a:gs pos="100000">
                <a:srgbClr val="FF2464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0" name="SEC-017-10">
            <a:extLst xmlns:a="http://schemas.openxmlformats.org/drawingml/2006/main">
              <a:ext uri="{FF2B5EF4-FFF2-40B4-BE49-F238E27FC236}">
                <a16:creationId xmlns:a16="http://schemas.microsoft.com/office/drawing/2014/main" id="{E071D93F-4FE6-4D37-8F77-E652B6CB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524375"/>
            <a:ext cx="6467475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5AE9803A-7E6C-4BC8-A060-80EC731B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981075"/>
            <a:ext cx="1085850" cy="5276850"/>
          </a:xfrm>
          <a:custGeom xmlns:a="http://schemas.openxmlformats.org/drawingml/2006/main">
            <a:pathLst>
              <a:path w="1085850" h="5276850">
                <a:moveTo>
                  <a:pt x="219075" y="0"/>
                </a:moveTo>
                <a:lnTo>
                  <a:pt x="28575" y="276225"/>
                </a:lnTo>
                <a:lnTo>
                  <a:pt x="0" y="400050"/>
                </a:lnTo>
                <a:lnTo>
                  <a:pt x="0" y="4772025"/>
                </a:lnTo>
                <a:lnTo>
                  <a:pt x="28575" y="4867275"/>
                </a:lnTo>
                <a:lnTo>
                  <a:pt x="1085850" y="52768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92929"/>
            </a:solidFill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BABDD9D2-E7A6-4B61-8EB4-658752BE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369" y="6174387"/>
            <a:ext cx="113931" cy="92719"/>
          </a:xfrm>
          <a:custGeom xmlns:a="http://schemas.openxmlformats.org/drawingml/2006/main">
            <a:pathLst>
              <a:path w="113931" h="92719">
                <a:moveTo>
                  <a:pt x="113931" y="83538"/>
                </a:moveTo>
                <a:lnTo>
                  <a:pt x="0" y="92719"/>
                </a:lnTo>
                <a:lnTo>
                  <a:pt x="35918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0AFD8170-BADE-4949-BAA1-E65D83C1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914400"/>
            <a:ext cx="1562100" cy="5276850"/>
          </a:xfrm>
          <a:custGeom xmlns:a="http://schemas.openxmlformats.org/drawingml/2006/main">
            <a:pathLst>
              <a:path w="1562100" h="5276850">
                <a:moveTo>
                  <a:pt x="1562100" y="0"/>
                </a:moveTo>
                <a:lnTo>
                  <a:pt x="104775" y="323850"/>
                </a:lnTo>
                <a:lnTo>
                  <a:pt x="28575" y="390525"/>
                </a:lnTo>
                <a:lnTo>
                  <a:pt x="28575" y="4886325"/>
                </a:lnTo>
                <a:lnTo>
                  <a:pt x="0" y="52768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92929"/>
            </a:solidFill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24181D6E-4FCC-44F1-8E57-A3204BC3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602" y="6084975"/>
            <a:ext cx="99168" cy="106275"/>
          </a:xfrm>
          <a:custGeom xmlns:a="http://schemas.openxmlformats.org/drawingml/2006/main">
            <a:pathLst>
              <a:path w="99168" h="106275">
                <a:moveTo>
                  <a:pt x="42073" y="106275"/>
                </a:moveTo>
                <a:lnTo>
                  <a:pt x="0" y="0"/>
                </a:lnTo>
                <a:lnTo>
                  <a:pt x="99168" y="725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EBF98E0A-C18C-4BFC-9542-CBA3D209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885825"/>
            <a:ext cx="3952875" cy="1314450"/>
          </a:xfrm>
          <a:custGeom xmlns:a="http://schemas.openxmlformats.org/drawingml/2006/main">
            <a:pathLst>
              <a:path w="3952875" h="1314450">
                <a:moveTo>
                  <a:pt x="0" y="0"/>
                </a:moveTo>
                <a:lnTo>
                  <a:pt x="1819275" y="333375"/>
                </a:lnTo>
                <a:lnTo>
                  <a:pt x="1914525" y="400050"/>
                </a:lnTo>
                <a:lnTo>
                  <a:pt x="1914525" y="809625"/>
                </a:lnTo>
                <a:lnTo>
                  <a:pt x="1971675" y="904875"/>
                </a:lnTo>
                <a:lnTo>
                  <a:pt x="3952875" y="13144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92929"/>
            </a:solidFill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941B7E9F-A332-4755-A943-36DD4FE7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295" y="2130752"/>
            <a:ext cx="110855" cy="97374"/>
          </a:xfrm>
          <a:custGeom xmlns:a="http://schemas.openxmlformats.org/drawingml/2006/main">
            <a:pathLst>
              <a:path w="110855" h="97374">
                <a:moveTo>
                  <a:pt x="110855" y="69523"/>
                </a:moveTo>
                <a:lnTo>
                  <a:pt x="0" y="97374"/>
                </a:lnTo>
                <a:lnTo>
                  <a:pt x="2013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54E10855-140A-4ADB-BDF3-5FE2CA71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885825"/>
            <a:ext cx="2628900" cy="1304925"/>
          </a:xfrm>
          <a:custGeom xmlns:a="http://schemas.openxmlformats.org/drawingml/2006/main">
            <a:pathLst>
              <a:path w="2628900" h="1304925">
                <a:moveTo>
                  <a:pt x="0" y="0"/>
                </a:moveTo>
                <a:lnTo>
                  <a:pt x="2524125" y="333375"/>
                </a:lnTo>
                <a:lnTo>
                  <a:pt x="2628900" y="419100"/>
                </a:lnTo>
                <a:lnTo>
                  <a:pt x="2628900" y="809625"/>
                </a:lnTo>
                <a:lnTo>
                  <a:pt x="2581275" y="904875"/>
                </a:lnTo>
                <a:lnTo>
                  <a:pt x="1066800" y="13049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92929"/>
            </a:solidFill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ADCE155C-BE2D-407E-838F-210D252D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6397"/>
            <a:ext cx="112205" cy="96136"/>
          </a:xfrm>
          <a:custGeom xmlns:a="http://schemas.openxmlformats.org/drawingml/2006/main">
            <a:pathLst>
              <a:path w="112205" h="96136">
                <a:moveTo>
                  <a:pt x="0" y="74353"/>
                </a:moveTo>
                <a:lnTo>
                  <a:pt x="86811" y="0"/>
                </a:lnTo>
                <a:lnTo>
                  <a:pt x="112205" y="96136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66021C0E-7A85-44BD-9692-4B174A59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505075"/>
            <a:ext cx="1543050" cy="590550"/>
          </a:xfrm>
          <a:custGeom xmlns:a="http://schemas.openxmlformats.org/drawingml/2006/main">
            <a:pathLst>
              <a:path w="1543050" h="590550">
                <a:moveTo>
                  <a:pt x="1543050" y="0"/>
                </a:moveTo>
                <a:lnTo>
                  <a:pt x="95250" y="333375"/>
                </a:lnTo>
                <a:lnTo>
                  <a:pt x="9525" y="400050"/>
                </a:lnTo>
                <a:lnTo>
                  <a:pt x="0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92929"/>
            </a:solidFill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5543B623-A563-4FB4-8FDB-ED232EF2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210" y="2990350"/>
            <a:ext cx="99309" cy="105275"/>
          </a:xfrm>
          <a:custGeom xmlns:a="http://schemas.openxmlformats.org/drawingml/2006/main">
            <a:pathLst>
              <a:path w="99309" h="105275">
                <a:moveTo>
                  <a:pt x="44515" y="105275"/>
                </a:moveTo>
                <a:lnTo>
                  <a:pt x="0" y="0"/>
                </a:lnTo>
                <a:lnTo>
                  <a:pt x="99309" y="496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F9C6C7F8-DE5B-497F-8B2C-74051737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43175"/>
            <a:ext cx="981075" cy="552450"/>
          </a:xfrm>
          <a:custGeom xmlns:a="http://schemas.openxmlformats.org/drawingml/2006/main">
            <a:pathLst>
              <a:path w="981075" h="552450">
                <a:moveTo>
                  <a:pt x="0" y="0"/>
                </a:moveTo>
                <a:lnTo>
                  <a:pt x="885825" y="295275"/>
                </a:lnTo>
                <a:lnTo>
                  <a:pt x="981075" y="381000"/>
                </a:lnTo>
                <a:lnTo>
                  <a:pt x="981075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92929"/>
            </a:solidFill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13312A2F-B561-4C45-B1CF-FFB0B12D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0483" y="2992704"/>
            <a:ext cx="99433" cy="102921"/>
          </a:xfrm>
          <a:custGeom xmlns:a="http://schemas.openxmlformats.org/drawingml/2006/main">
            <a:pathLst>
              <a:path w="99433" h="102921">
                <a:moveTo>
                  <a:pt x="49717" y="102921"/>
                </a:moveTo>
                <a:lnTo>
                  <a:pt x="0" y="0"/>
                </a:lnTo>
                <a:lnTo>
                  <a:pt x="99433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92D22141-53D1-4A05-AAEE-263620F9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86175"/>
            <a:ext cx="95" cy="1038225"/>
          </a:xfrm>
          <a:custGeom xmlns:a="http://schemas.openxmlformats.org/drawingml/2006/main">
            <a:pathLst>
              <a:path w="95" h="1038225">
                <a:moveTo>
                  <a:pt x="0" y="0"/>
                </a:moveTo>
                <a:lnTo>
                  <a:pt x="0" y="10382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22222"/>
            </a:solidFill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F330A85D-8E85-4389-849D-7683652B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631" y="4611847"/>
            <a:ext cx="103238" cy="112553"/>
          </a:xfrm>
          <a:custGeom xmlns:a="http://schemas.openxmlformats.org/drawingml/2006/main">
            <a:pathLst>
              <a:path w="103238" h="112553">
                <a:moveTo>
                  <a:pt x="51619" y="112553"/>
                </a:moveTo>
                <a:lnTo>
                  <a:pt x="0" y="0"/>
                </a:lnTo>
                <a:lnTo>
                  <a:pt x="103238" y="0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BC1D8267-F932-4250-823D-85C56CA4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305425"/>
            <a:ext cx="1285875" cy="981075"/>
          </a:xfrm>
          <a:custGeom xmlns:a="http://schemas.openxmlformats.org/drawingml/2006/main">
            <a:pathLst>
              <a:path w="1285875" h="981075">
                <a:moveTo>
                  <a:pt x="1285875" y="0"/>
                </a:moveTo>
                <a:lnTo>
                  <a:pt x="1285875" y="457200"/>
                </a:lnTo>
                <a:lnTo>
                  <a:pt x="1247775" y="542925"/>
                </a:lnTo>
                <a:lnTo>
                  <a:pt x="0" y="9810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92929"/>
            </a:solidFill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2FDA51C8-2122-479F-8AB8-E30237FB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205492"/>
            <a:ext cx="113580" cy="93817"/>
          </a:xfrm>
          <a:custGeom xmlns:a="http://schemas.openxmlformats.org/drawingml/2006/main">
            <a:pathLst>
              <a:path w="113580" h="93817">
                <a:moveTo>
                  <a:pt x="0" y="81008"/>
                </a:moveTo>
                <a:lnTo>
                  <a:pt x="80636" y="0"/>
                </a:lnTo>
                <a:lnTo>
                  <a:pt x="113580" y="93817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C00B212D-5A8D-47F0-86F8-9E96A97C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86175"/>
            <a:ext cx="2266950" cy="1209675"/>
          </a:xfrm>
          <a:custGeom xmlns:a="http://schemas.openxmlformats.org/drawingml/2006/main">
            <a:pathLst>
              <a:path w="2266950" h="1209675">
                <a:moveTo>
                  <a:pt x="0" y="0"/>
                </a:moveTo>
                <a:lnTo>
                  <a:pt x="0" y="714375"/>
                </a:lnTo>
                <a:lnTo>
                  <a:pt x="57150" y="819150"/>
                </a:lnTo>
                <a:lnTo>
                  <a:pt x="2266950" y="12096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92929"/>
            </a:solidFill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07005F20-309B-45DF-B58F-610236E5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7147" y="4828981"/>
            <a:ext cx="110003" cy="97916"/>
          </a:xfrm>
          <a:custGeom xmlns:a="http://schemas.openxmlformats.org/drawingml/2006/main">
            <a:pathLst>
              <a:path w="110003" h="97916">
                <a:moveTo>
                  <a:pt x="110003" y="66869"/>
                </a:moveTo>
                <a:lnTo>
                  <a:pt x="0" y="97916"/>
                </a:lnTo>
                <a:lnTo>
                  <a:pt x="17304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79B3A677-CAA9-4A0D-9E03-F55FC514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981075"/>
            <a:ext cx="561975" cy="1047750"/>
          </a:xfrm>
          <a:custGeom xmlns:a="http://schemas.openxmlformats.org/drawingml/2006/main">
            <a:pathLst>
              <a:path w="561975" h="1047750">
                <a:moveTo>
                  <a:pt x="0" y="0"/>
                </a:moveTo>
                <a:lnTo>
                  <a:pt x="0" y="733425"/>
                </a:lnTo>
                <a:lnTo>
                  <a:pt x="47625" y="828675"/>
                </a:lnTo>
                <a:lnTo>
                  <a:pt x="561975" y="10477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92929"/>
            </a:solidFill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63E74961-7076-4790-92AC-FF5B6F02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353" y="1942754"/>
            <a:ext cx="114172" cy="91481"/>
          </a:xfrm>
          <a:custGeom xmlns:a="http://schemas.openxmlformats.org/drawingml/2006/main">
            <a:pathLst>
              <a:path w="114172" h="91481">
                <a:moveTo>
                  <a:pt x="114172" y="86071"/>
                </a:moveTo>
                <a:lnTo>
                  <a:pt x="0" y="91481"/>
                </a:lnTo>
                <a:lnTo>
                  <a:pt x="38964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3C1ACCD0-31D0-4C82-9564-6CDEE9FF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981075"/>
            <a:ext cx="571500" cy="1047750"/>
          </a:xfrm>
          <a:custGeom xmlns:a="http://schemas.openxmlformats.org/drawingml/2006/main">
            <a:pathLst>
              <a:path w="571500" h="1047750">
                <a:moveTo>
                  <a:pt x="571500" y="0"/>
                </a:moveTo>
                <a:lnTo>
                  <a:pt x="571500" y="733425"/>
                </a:lnTo>
                <a:lnTo>
                  <a:pt x="523875" y="828675"/>
                </a:lnTo>
                <a:lnTo>
                  <a:pt x="0" y="10477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92929"/>
            </a:solidFill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C9F60FF0-1A42-47D2-9DD5-63739684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1943250"/>
            <a:ext cx="114134" cy="91735"/>
          </a:xfrm>
          <a:custGeom xmlns:a="http://schemas.openxmlformats.org/drawingml/2006/main">
            <a:pathLst>
              <a:path w="114134" h="91735">
                <a:moveTo>
                  <a:pt x="0" y="85575"/>
                </a:moveTo>
                <a:lnTo>
                  <a:pt x="75772" y="0"/>
                </a:lnTo>
                <a:lnTo>
                  <a:pt x="114134" y="9173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0354D2B1-C0E4-44E9-BFCE-9AB9DCA6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2609850"/>
            <a:ext cx="95" cy="485775"/>
          </a:xfrm>
          <a:custGeom xmlns:a="http://schemas.openxmlformats.org/drawingml/2006/main">
            <a:pathLst>
              <a:path w="95" h="485775">
                <a:moveTo>
                  <a:pt x="0" y="0"/>
                </a:moveTo>
                <a:lnTo>
                  <a:pt x="0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22222"/>
            </a:solidFill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3180933F-9384-4896-83A7-D6B31B24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8606" y="2983072"/>
            <a:ext cx="103238" cy="112553"/>
          </a:xfrm>
          <a:custGeom xmlns:a="http://schemas.openxmlformats.org/drawingml/2006/main">
            <a:pathLst>
              <a:path w="103238" h="112553">
                <a:moveTo>
                  <a:pt x="51619" y="112553"/>
                </a:moveTo>
                <a:lnTo>
                  <a:pt x="0" y="0"/>
                </a:lnTo>
                <a:lnTo>
                  <a:pt x="103238" y="0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BD73F667-D6C5-49DF-B148-B329ABF0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3686175"/>
            <a:ext cx="447675" cy="1057275"/>
          </a:xfrm>
          <a:custGeom xmlns:a="http://schemas.openxmlformats.org/drawingml/2006/main">
            <a:pathLst>
              <a:path w="447675" h="1057275">
                <a:moveTo>
                  <a:pt x="447675" y="0"/>
                </a:moveTo>
                <a:lnTo>
                  <a:pt x="447675" y="714375"/>
                </a:lnTo>
                <a:lnTo>
                  <a:pt x="400050" y="828675"/>
                </a:lnTo>
                <a:lnTo>
                  <a:pt x="0" y="10572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92929"/>
            </a:solidFill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E46CC121-8DEC-4FB9-844F-ECF58B9C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4649221"/>
            <a:ext cx="114027" cy="94229"/>
          </a:xfrm>
          <a:custGeom xmlns:a="http://schemas.openxmlformats.org/drawingml/2006/main">
            <a:pathLst>
              <a:path w="114027" h="94229">
                <a:moveTo>
                  <a:pt x="0" y="94229"/>
                </a:moveTo>
                <a:lnTo>
                  <a:pt x="64694" y="0"/>
                </a:lnTo>
                <a:lnTo>
                  <a:pt x="114027" y="86332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A7BCBE20-654A-407F-A923-D4643C25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305425"/>
            <a:ext cx="95" cy="762000"/>
          </a:xfrm>
          <a:custGeom xmlns:a="http://schemas.openxmlformats.org/drawingml/2006/main">
            <a:pathLst>
              <a:path w="9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22222"/>
            </a:solidFill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73D09826-2D96-4295-895B-AA50D0FB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006" y="5954872"/>
            <a:ext cx="103238" cy="112553"/>
          </a:xfrm>
          <a:custGeom xmlns:a="http://schemas.openxmlformats.org/drawingml/2006/main">
            <a:pathLst>
              <a:path w="103238" h="112553">
                <a:moveTo>
                  <a:pt x="51619" y="112553"/>
                </a:moveTo>
                <a:lnTo>
                  <a:pt x="0" y="0"/>
                </a:lnTo>
                <a:lnTo>
                  <a:pt x="103238" y="0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411AA10E-35B1-4B01-B469-DFEBC1B8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6924675"/>
            <a:ext cx="95" cy="485775"/>
          </a:xfrm>
          <a:custGeom xmlns:a="http://schemas.openxmlformats.org/drawingml/2006/main">
            <a:pathLst>
              <a:path w="95" h="485775">
                <a:moveTo>
                  <a:pt x="0" y="0"/>
                </a:moveTo>
                <a:lnTo>
                  <a:pt x="0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22222"/>
            </a:solidFill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697B70B9-7AD9-40E4-B5C2-2D165D9A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006" y="7297897"/>
            <a:ext cx="103238" cy="112553"/>
          </a:xfrm>
          <a:custGeom xmlns:a="http://schemas.openxmlformats.org/drawingml/2006/main">
            <a:pathLst>
              <a:path w="103238" h="112553">
                <a:moveTo>
                  <a:pt x="51619" y="112553"/>
                </a:moveTo>
                <a:lnTo>
                  <a:pt x="0" y="0"/>
                </a:lnTo>
                <a:lnTo>
                  <a:pt x="103238" y="0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15DD658D-F134-4956-B90A-B1299941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7991475"/>
            <a:ext cx="400050" cy="495300"/>
          </a:xfrm>
          <a:custGeom xmlns:a="http://schemas.openxmlformats.org/drawingml/2006/main">
            <a:pathLst>
              <a:path w="400050" h="495300">
                <a:moveTo>
                  <a:pt x="0" y="0"/>
                </a:moveTo>
                <a:lnTo>
                  <a:pt x="20397" y="14112"/>
                </a:lnTo>
                <a:lnTo>
                  <a:pt x="40159" y="27887"/>
                </a:lnTo>
                <a:lnTo>
                  <a:pt x="59294" y="41344"/>
                </a:lnTo>
                <a:lnTo>
                  <a:pt x="77810" y="54502"/>
                </a:lnTo>
                <a:lnTo>
                  <a:pt x="95715" y="67382"/>
                </a:lnTo>
                <a:lnTo>
                  <a:pt x="113018" y="80003"/>
                </a:lnTo>
                <a:lnTo>
                  <a:pt x="129726" y="92384"/>
                </a:lnTo>
                <a:lnTo>
                  <a:pt x="145847" y="104546"/>
                </a:lnTo>
                <a:lnTo>
                  <a:pt x="161389" y="116508"/>
                </a:lnTo>
                <a:lnTo>
                  <a:pt x="176361" y="128290"/>
                </a:lnTo>
                <a:lnTo>
                  <a:pt x="190771" y="139911"/>
                </a:lnTo>
                <a:lnTo>
                  <a:pt x="204626" y="151390"/>
                </a:lnTo>
                <a:lnTo>
                  <a:pt x="217934" y="162749"/>
                </a:lnTo>
                <a:lnTo>
                  <a:pt x="230704" y="174005"/>
                </a:lnTo>
                <a:lnTo>
                  <a:pt x="242943" y="185179"/>
                </a:lnTo>
                <a:lnTo>
                  <a:pt x="254660" y="196291"/>
                </a:lnTo>
                <a:lnTo>
                  <a:pt x="265863" y="207360"/>
                </a:lnTo>
                <a:lnTo>
                  <a:pt x="276560" y="218406"/>
                </a:lnTo>
                <a:lnTo>
                  <a:pt x="286758" y="229448"/>
                </a:lnTo>
                <a:lnTo>
                  <a:pt x="296466" y="240506"/>
                </a:lnTo>
                <a:lnTo>
                  <a:pt x="305691" y="251600"/>
                </a:lnTo>
                <a:lnTo>
                  <a:pt x="314443" y="262750"/>
                </a:lnTo>
                <a:lnTo>
                  <a:pt x="322728" y="273974"/>
                </a:lnTo>
                <a:lnTo>
                  <a:pt x="330556" y="285293"/>
                </a:lnTo>
                <a:lnTo>
                  <a:pt x="337933" y="296726"/>
                </a:lnTo>
                <a:lnTo>
                  <a:pt x="344868" y="308293"/>
                </a:lnTo>
                <a:lnTo>
                  <a:pt x="351369" y="320014"/>
                </a:lnTo>
                <a:lnTo>
                  <a:pt x="357445" y="331908"/>
                </a:lnTo>
                <a:lnTo>
                  <a:pt x="363102" y="343995"/>
                </a:lnTo>
                <a:lnTo>
                  <a:pt x="368350" y="356295"/>
                </a:lnTo>
                <a:lnTo>
                  <a:pt x="373195" y="368826"/>
                </a:lnTo>
                <a:lnTo>
                  <a:pt x="377647" y="381610"/>
                </a:lnTo>
                <a:lnTo>
                  <a:pt x="381713" y="394665"/>
                </a:lnTo>
                <a:lnTo>
                  <a:pt x="385402" y="408011"/>
                </a:lnTo>
                <a:lnTo>
                  <a:pt x="388720" y="421667"/>
                </a:lnTo>
                <a:lnTo>
                  <a:pt x="391678" y="435654"/>
                </a:lnTo>
                <a:lnTo>
                  <a:pt x="394281" y="449992"/>
                </a:lnTo>
                <a:lnTo>
                  <a:pt x="396539" y="464699"/>
                </a:lnTo>
                <a:lnTo>
                  <a:pt x="398459" y="479795"/>
                </a:lnTo>
                <a:lnTo>
                  <a:pt x="40005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22222"/>
            </a:solidFill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25C119FC-FFFD-4CB4-AFD3-3B17DB86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7838" y="8369542"/>
            <a:ext cx="102699" cy="117233"/>
          </a:xfrm>
          <a:custGeom xmlns:a="http://schemas.openxmlformats.org/drawingml/2006/main">
            <a:pathLst>
              <a:path w="102699" h="117233">
                <a:moveTo>
                  <a:pt x="62837" y="117233"/>
                </a:moveTo>
                <a:lnTo>
                  <a:pt x="0" y="10537"/>
                </a:lnTo>
                <a:lnTo>
                  <a:pt x="102699" y="0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37E75C2B-D658-4170-AE22-8E990E50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9077325"/>
            <a:ext cx="95" cy="485775"/>
          </a:xfrm>
          <a:custGeom xmlns:a="http://schemas.openxmlformats.org/drawingml/2006/main">
            <a:pathLst>
              <a:path w="95" h="485775">
                <a:moveTo>
                  <a:pt x="0" y="0"/>
                </a:moveTo>
                <a:lnTo>
                  <a:pt x="0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22222"/>
            </a:solidFill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0004E19C-D22D-4858-9CE4-EFF46349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9056" y="9450547"/>
            <a:ext cx="103238" cy="112553"/>
          </a:xfrm>
          <a:custGeom xmlns:a="http://schemas.openxmlformats.org/drawingml/2006/main">
            <a:pathLst>
              <a:path w="103238" h="112553">
                <a:moveTo>
                  <a:pt x="51619" y="112553"/>
                </a:moveTo>
                <a:lnTo>
                  <a:pt x="0" y="0"/>
                </a:lnTo>
                <a:lnTo>
                  <a:pt x="103238" y="0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7E71BD71-DFED-4777-94E2-770D8E37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7905750"/>
            <a:ext cx="3314700" cy="685800"/>
          </a:xfrm>
          <a:custGeom xmlns:a="http://schemas.openxmlformats.org/drawingml/2006/main">
            <a:pathLst>
              <a:path w="3314700" h="685800">
                <a:moveTo>
                  <a:pt x="3314700" y="0"/>
                </a:moveTo>
                <a:lnTo>
                  <a:pt x="3199723" y="19687"/>
                </a:lnTo>
                <a:lnTo>
                  <a:pt x="3088972" y="38769"/>
                </a:lnTo>
                <a:lnTo>
                  <a:pt x="2982242" y="57283"/>
                </a:lnTo>
                <a:lnTo>
                  <a:pt x="2879331" y="75267"/>
                </a:lnTo>
                <a:lnTo>
                  <a:pt x="2780035" y="92757"/>
                </a:lnTo>
                <a:lnTo>
                  <a:pt x="2684150" y="109792"/>
                </a:lnTo>
                <a:lnTo>
                  <a:pt x="2591472" y="126410"/>
                </a:lnTo>
                <a:lnTo>
                  <a:pt x="2501798" y="142646"/>
                </a:lnTo>
                <a:lnTo>
                  <a:pt x="2414925" y="158540"/>
                </a:lnTo>
                <a:lnTo>
                  <a:pt x="2330648" y="174129"/>
                </a:lnTo>
                <a:lnTo>
                  <a:pt x="2248765" y="189450"/>
                </a:lnTo>
                <a:lnTo>
                  <a:pt x="2169071" y="204540"/>
                </a:lnTo>
                <a:lnTo>
                  <a:pt x="2091363" y="219437"/>
                </a:lnTo>
                <a:lnTo>
                  <a:pt x="2015438" y="234179"/>
                </a:lnTo>
                <a:lnTo>
                  <a:pt x="1941091" y="248803"/>
                </a:lnTo>
                <a:lnTo>
                  <a:pt x="1868119" y="263347"/>
                </a:lnTo>
                <a:lnTo>
                  <a:pt x="1796319" y="277848"/>
                </a:lnTo>
                <a:lnTo>
                  <a:pt x="1725487" y="292344"/>
                </a:lnTo>
                <a:lnTo>
                  <a:pt x="1655419" y="306871"/>
                </a:lnTo>
                <a:lnTo>
                  <a:pt x="1585913" y="321469"/>
                </a:lnTo>
                <a:lnTo>
                  <a:pt x="1516763" y="336173"/>
                </a:lnTo>
                <a:lnTo>
                  <a:pt x="1447767" y="351022"/>
                </a:lnTo>
                <a:lnTo>
                  <a:pt x="1378721" y="366054"/>
                </a:lnTo>
                <a:lnTo>
                  <a:pt x="1309421" y="381305"/>
                </a:lnTo>
                <a:lnTo>
                  <a:pt x="1239664" y="396813"/>
                </a:lnTo>
                <a:lnTo>
                  <a:pt x="1169246" y="412616"/>
                </a:lnTo>
                <a:lnTo>
                  <a:pt x="1097964" y="428751"/>
                </a:lnTo>
                <a:lnTo>
                  <a:pt x="1025614" y="445256"/>
                </a:lnTo>
                <a:lnTo>
                  <a:pt x="951992" y="462168"/>
                </a:lnTo>
                <a:lnTo>
                  <a:pt x="876895" y="479524"/>
                </a:lnTo>
                <a:lnTo>
                  <a:pt x="800120" y="497363"/>
                </a:lnTo>
                <a:lnTo>
                  <a:pt x="721462" y="515722"/>
                </a:lnTo>
                <a:lnTo>
                  <a:pt x="640718" y="534637"/>
                </a:lnTo>
                <a:lnTo>
                  <a:pt x="557684" y="554148"/>
                </a:lnTo>
                <a:lnTo>
                  <a:pt x="472157" y="574291"/>
                </a:lnTo>
                <a:lnTo>
                  <a:pt x="383934" y="595103"/>
                </a:lnTo>
                <a:lnTo>
                  <a:pt x="292810" y="616623"/>
                </a:lnTo>
                <a:lnTo>
                  <a:pt x="198582" y="638887"/>
                </a:lnTo>
                <a:lnTo>
                  <a:pt x="101047" y="661934"/>
                </a:lnTo>
                <a:lnTo>
                  <a:pt x="0" y="6858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22222"/>
            </a:solidFill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51DE0924-3016-410F-877D-F152055D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8515441"/>
            <a:ext cx="121404" cy="100474"/>
          </a:xfrm>
          <a:custGeom xmlns:a="http://schemas.openxmlformats.org/drawingml/2006/main">
            <a:pathLst>
              <a:path w="121404" h="100474">
                <a:moveTo>
                  <a:pt x="0" y="76109"/>
                </a:moveTo>
                <a:lnTo>
                  <a:pt x="97673" y="0"/>
                </a:lnTo>
                <a:lnTo>
                  <a:pt x="121404" y="100474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88B9887E-D48D-4CA8-9E71-E3DE996B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9039225"/>
            <a:ext cx="1285875" cy="533400"/>
          </a:xfrm>
          <a:custGeom xmlns:a="http://schemas.openxmlformats.org/drawingml/2006/main">
            <a:pathLst>
              <a:path w="1285875" h="533400">
                <a:moveTo>
                  <a:pt x="1285875" y="0"/>
                </a:moveTo>
                <a:lnTo>
                  <a:pt x="1214688" y="16115"/>
                </a:lnTo>
                <a:lnTo>
                  <a:pt x="1146793" y="31624"/>
                </a:lnTo>
                <a:lnTo>
                  <a:pt x="1082088" y="46563"/>
                </a:lnTo>
                <a:lnTo>
                  <a:pt x="1020470" y="60970"/>
                </a:lnTo>
                <a:lnTo>
                  <a:pt x="961839" y="74879"/>
                </a:lnTo>
                <a:lnTo>
                  <a:pt x="906092" y="88329"/>
                </a:lnTo>
                <a:lnTo>
                  <a:pt x="853127" y="101355"/>
                </a:lnTo>
                <a:lnTo>
                  <a:pt x="802843" y="113995"/>
                </a:lnTo>
                <a:lnTo>
                  <a:pt x="755138" y="126285"/>
                </a:lnTo>
                <a:lnTo>
                  <a:pt x="709910" y="138261"/>
                </a:lnTo>
                <a:lnTo>
                  <a:pt x="667057" y="149961"/>
                </a:lnTo>
                <a:lnTo>
                  <a:pt x="626478" y="161420"/>
                </a:lnTo>
                <a:lnTo>
                  <a:pt x="588071" y="172676"/>
                </a:lnTo>
                <a:lnTo>
                  <a:pt x="551733" y="183765"/>
                </a:lnTo>
                <a:lnTo>
                  <a:pt x="517364" y="194723"/>
                </a:lnTo>
                <a:lnTo>
                  <a:pt x="484861" y="205588"/>
                </a:lnTo>
                <a:lnTo>
                  <a:pt x="454122" y="216395"/>
                </a:lnTo>
                <a:lnTo>
                  <a:pt x="425046" y="227182"/>
                </a:lnTo>
                <a:lnTo>
                  <a:pt x="397531" y="237985"/>
                </a:lnTo>
                <a:lnTo>
                  <a:pt x="371475" y="248841"/>
                </a:lnTo>
                <a:lnTo>
                  <a:pt x="346776" y="259786"/>
                </a:lnTo>
                <a:lnTo>
                  <a:pt x="323333" y="270856"/>
                </a:lnTo>
                <a:lnTo>
                  <a:pt x="301044" y="282090"/>
                </a:lnTo>
                <a:lnTo>
                  <a:pt x="279806" y="293522"/>
                </a:lnTo>
                <a:lnTo>
                  <a:pt x="259519" y="305191"/>
                </a:lnTo>
                <a:lnTo>
                  <a:pt x="240080" y="317131"/>
                </a:lnTo>
                <a:lnTo>
                  <a:pt x="221387" y="329381"/>
                </a:lnTo>
                <a:lnTo>
                  <a:pt x="203340" y="341976"/>
                </a:lnTo>
                <a:lnTo>
                  <a:pt x="185835" y="354953"/>
                </a:lnTo>
                <a:lnTo>
                  <a:pt x="168771" y="368350"/>
                </a:lnTo>
                <a:lnTo>
                  <a:pt x="152047" y="382201"/>
                </a:lnTo>
                <a:lnTo>
                  <a:pt x="135560" y="396545"/>
                </a:lnTo>
                <a:lnTo>
                  <a:pt x="119209" y="411417"/>
                </a:lnTo>
                <a:lnTo>
                  <a:pt x="102891" y="426855"/>
                </a:lnTo>
                <a:lnTo>
                  <a:pt x="86506" y="442894"/>
                </a:lnTo>
                <a:lnTo>
                  <a:pt x="69952" y="459572"/>
                </a:lnTo>
                <a:lnTo>
                  <a:pt x="53125" y="476925"/>
                </a:lnTo>
                <a:lnTo>
                  <a:pt x="35926" y="494989"/>
                </a:lnTo>
                <a:lnTo>
                  <a:pt x="18251" y="513802"/>
                </a:ln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22222"/>
            </a:solidFill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6BB27F4E-5479-45EE-9B77-CAAF2668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9455080"/>
            <a:ext cx="114482" cy="117545"/>
          </a:xfrm>
          <a:custGeom xmlns:a="http://schemas.openxmlformats.org/drawingml/2006/main">
            <a:pathLst>
              <a:path w="114482" h="117545">
                <a:moveTo>
                  <a:pt x="0" y="117545"/>
                </a:moveTo>
                <a:lnTo>
                  <a:pt x="38932" y="0"/>
                </a:lnTo>
                <a:lnTo>
                  <a:pt x="114482" y="70359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76C7FCFC-17C8-4228-B568-6958BEB9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6791325"/>
            <a:ext cx="95" cy="619125"/>
          </a:xfrm>
          <a:custGeom xmlns:a="http://schemas.openxmlformats.org/drawingml/2006/main">
            <a:pathLst>
              <a:path w="95" h="619125">
                <a:moveTo>
                  <a:pt x="0" y="0"/>
                </a:moveTo>
                <a:lnTo>
                  <a:pt x="0" y="6191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22222"/>
            </a:solidFill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8788F038-D40C-4F01-8B65-1150C337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956" y="7297897"/>
            <a:ext cx="103238" cy="112553"/>
          </a:xfrm>
          <a:custGeom xmlns:a="http://schemas.openxmlformats.org/drawingml/2006/main">
            <a:pathLst>
              <a:path w="103238" h="112553">
                <a:moveTo>
                  <a:pt x="51619" y="112553"/>
                </a:moveTo>
                <a:lnTo>
                  <a:pt x="0" y="0"/>
                </a:lnTo>
                <a:lnTo>
                  <a:pt x="103238" y="0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6118104B-5295-4A48-8CB7-1CC6326A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991475"/>
            <a:ext cx="904875" cy="504825"/>
          </a:xfrm>
          <a:custGeom xmlns:a="http://schemas.openxmlformats.org/drawingml/2006/main">
            <a:pathLst>
              <a:path w="904875" h="504825">
                <a:moveTo>
                  <a:pt x="904875" y="0"/>
                </a:moveTo>
                <a:lnTo>
                  <a:pt x="874719" y="11204"/>
                </a:lnTo>
                <a:lnTo>
                  <a:pt x="844294" y="21984"/>
                </a:lnTo>
                <a:lnTo>
                  <a:pt x="813650" y="32377"/>
                </a:lnTo>
                <a:lnTo>
                  <a:pt x="782841" y="42424"/>
                </a:lnTo>
                <a:lnTo>
                  <a:pt x="751917" y="52164"/>
                </a:lnTo>
                <a:lnTo>
                  <a:pt x="720931" y="61636"/>
                </a:lnTo>
                <a:lnTo>
                  <a:pt x="689934" y="70880"/>
                </a:lnTo>
                <a:lnTo>
                  <a:pt x="658978" y="79934"/>
                </a:lnTo>
                <a:lnTo>
                  <a:pt x="628115" y="88838"/>
                </a:lnTo>
                <a:lnTo>
                  <a:pt x="597396" y="97631"/>
                </a:lnTo>
                <a:lnTo>
                  <a:pt x="566874" y="106353"/>
                </a:lnTo>
                <a:lnTo>
                  <a:pt x="536600" y="115043"/>
                </a:lnTo>
                <a:lnTo>
                  <a:pt x="506627" y="123740"/>
                </a:lnTo>
                <a:lnTo>
                  <a:pt x="477005" y="132483"/>
                </a:lnTo>
                <a:lnTo>
                  <a:pt x="447787" y="141312"/>
                </a:lnTo>
                <a:lnTo>
                  <a:pt x="419024" y="150266"/>
                </a:lnTo>
                <a:lnTo>
                  <a:pt x="390768" y="159385"/>
                </a:lnTo>
                <a:lnTo>
                  <a:pt x="363072" y="168707"/>
                </a:lnTo>
                <a:lnTo>
                  <a:pt x="335986" y="178272"/>
                </a:lnTo>
                <a:lnTo>
                  <a:pt x="309563" y="188119"/>
                </a:lnTo>
                <a:lnTo>
                  <a:pt x="283854" y="198287"/>
                </a:lnTo>
                <a:lnTo>
                  <a:pt x="258911" y="208817"/>
                </a:lnTo>
                <a:lnTo>
                  <a:pt x="234786" y="219746"/>
                </a:lnTo>
                <a:lnTo>
                  <a:pt x="211531" y="231115"/>
                </a:lnTo>
                <a:lnTo>
                  <a:pt x="189198" y="242962"/>
                </a:lnTo>
                <a:lnTo>
                  <a:pt x="167838" y="255327"/>
                </a:lnTo>
                <a:lnTo>
                  <a:pt x="147503" y="268250"/>
                </a:lnTo>
                <a:lnTo>
                  <a:pt x="128245" y="281769"/>
                </a:lnTo>
                <a:lnTo>
                  <a:pt x="110115" y="295923"/>
                </a:lnTo>
                <a:lnTo>
                  <a:pt x="93166" y="310753"/>
                </a:lnTo>
                <a:lnTo>
                  <a:pt x="77450" y="326297"/>
                </a:lnTo>
                <a:lnTo>
                  <a:pt x="63017" y="342595"/>
                </a:lnTo>
                <a:lnTo>
                  <a:pt x="49921" y="359686"/>
                </a:lnTo>
                <a:lnTo>
                  <a:pt x="38212" y="377609"/>
                </a:lnTo>
                <a:lnTo>
                  <a:pt x="27942" y="396404"/>
                </a:lnTo>
                <a:lnTo>
                  <a:pt x="19164" y="416109"/>
                </a:lnTo>
                <a:lnTo>
                  <a:pt x="11929" y="436765"/>
                </a:lnTo>
                <a:lnTo>
                  <a:pt x="6289" y="458410"/>
                </a:lnTo>
                <a:lnTo>
                  <a:pt x="2295" y="481083"/>
                </a:lnTo>
                <a:lnTo>
                  <a:pt x="0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22222"/>
            </a:solidFill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34A31F3D-7FEE-435F-B213-304578A8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326" y="8379303"/>
            <a:ext cx="102759" cy="116997"/>
          </a:xfrm>
          <a:custGeom xmlns:a="http://schemas.openxmlformats.org/drawingml/2006/main">
            <a:pathLst>
              <a:path w="102759" h="116997">
                <a:moveTo>
                  <a:pt x="40549" y="116997"/>
                </a:moveTo>
                <a:lnTo>
                  <a:pt x="0" y="0"/>
                </a:lnTo>
                <a:lnTo>
                  <a:pt x="102759" y="9934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C249DFAF-4540-4012-BA1F-24EE6A30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7991475"/>
            <a:ext cx="457200" cy="485775"/>
          </a:xfrm>
          <a:custGeom xmlns:a="http://schemas.openxmlformats.org/drawingml/2006/main">
            <a:pathLst>
              <a:path w="457200" h="485775">
                <a:moveTo>
                  <a:pt x="0" y="0"/>
                </a:moveTo>
                <a:lnTo>
                  <a:pt x="20502" y="12005"/>
                </a:lnTo>
                <a:lnTo>
                  <a:pt x="40573" y="23746"/>
                </a:lnTo>
                <a:lnTo>
                  <a:pt x="60210" y="35244"/>
                </a:lnTo>
                <a:lnTo>
                  <a:pt x="79410" y="46520"/>
                </a:lnTo>
                <a:lnTo>
                  <a:pt x="98171" y="57596"/>
                </a:lnTo>
                <a:lnTo>
                  <a:pt x="116490" y="68494"/>
                </a:lnTo>
                <a:lnTo>
                  <a:pt x="134364" y="79235"/>
                </a:lnTo>
                <a:lnTo>
                  <a:pt x="151790" y="89840"/>
                </a:lnTo>
                <a:lnTo>
                  <a:pt x="168767" y="100330"/>
                </a:lnTo>
                <a:lnTo>
                  <a:pt x="185291" y="110728"/>
                </a:lnTo>
                <a:lnTo>
                  <a:pt x="201360" y="121054"/>
                </a:lnTo>
                <a:lnTo>
                  <a:pt x="216970" y="131331"/>
                </a:lnTo>
                <a:lnTo>
                  <a:pt x="232120" y="141578"/>
                </a:lnTo>
                <a:lnTo>
                  <a:pt x="246806" y="151819"/>
                </a:lnTo>
                <a:lnTo>
                  <a:pt x="261026" y="162074"/>
                </a:lnTo>
                <a:lnTo>
                  <a:pt x="274777" y="172364"/>
                </a:lnTo>
                <a:lnTo>
                  <a:pt x="288057" y="182712"/>
                </a:lnTo>
                <a:lnTo>
                  <a:pt x="300863" y="193138"/>
                </a:lnTo>
                <a:lnTo>
                  <a:pt x="313191" y="203665"/>
                </a:lnTo>
                <a:lnTo>
                  <a:pt x="325041" y="214313"/>
                </a:lnTo>
                <a:lnTo>
                  <a:pt x="336408" y="225103"/>
                </a:lnTo>
                <a:lnTo>
                  <a:pt x="347290" y="236058"/>
                </a:lnTo>
                <a:lnTo>
                  <a:pt x="357684" y="247199"/>
                </a:lnTo>
                <a:lnTo>
                  <a:pt x="367589" y="258547"/>
                </a:lnTo>
                <a:lnTo>
                  <a:pt x="377000" y="270123"/>
                </a:lnTo>
                <a:lnTo>
                  <a:pt x="385916" y="281950"/>
                </a:lnTo>
                <a:lnTo>
                  <a:pt x="394334" y="294047"/>
                </a:lnTo>
                <a:lnTo>
                  <a:pt x="402250" y="306438"/>
                </a:lnTo>
                <a:lnTo>
                  <a:pt x="409663" y="319143"/>
                </a:lnTo>
                <a:lnTo>
                  <a:pt x="416570" y="332184"/>
                </a:lnTo>
                <a:lnTo>
                  <a:pt x="422968" y="345582"/>
                </a:lnTo>
                <a:lnTo>
                  <a:pt x="428854" y="359359"/>
                </a:lnTo>
                <a:lnTo>
                  <a:pt x="434225" y="373536"/>
                </a:lnTo>
                <a:lnTo>
                  <a:pt x="439080" y="388134"/>
                </a:lnTo>
                <a:lnTo>
                  <a:pt x="443415" y="403175"/>
                </a:lnTo>
                <a:lnTo>
                  <a:pt x="447227" y="418681"/>
                </a:lnTo>
                <a:lnTo>
                  <a:pt x="450515" y="434672"/>
                </a:lnTo>
                <a:lnTo>
                  <a:pt x="453275" y="451171"/>
                </a:lnTo>
                <a:lnTo>
                  <a:pt x="455504" y="468198"/>
                </a:lnTo>
                <a:lnTo>
                  <a:pt x="457200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22222"/>
            </a:solidFill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7A0DB79C-5288-43C1-A3D7-5CDCC3D0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784" y="8360260"/>
            <a:ext cx="102761" cy="116990"/>
          </a:xfrm>
          <a:custGeom xmlns:a="http://schemas.openxmlformats.org/drawingml/2006/main">
            <a:pathLst>
              <a:path w="102761" h="116990">
                <a:moveTo>
                  <a:pt x="62191" y="116990"/>
                </a:moveTo>
                <a:lnTo>
                  <a:pt x="0" y="9916"/>
                </a:lnTo>
                <a:lnTo>
                  <a:pt x="102761" y="0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B299CD28-2CC5-4F19-88AD-00992059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9077325"/>
            <a:ext cx="95" cy="485775"/>
          </a:xfrm>
          <a:custGeom xmlns:a="http://schemas.openxmlformats.org/drawingml/2006/main">
            <a:pathLst>
              <a:path w="95" h="485775">
                <a:moveTo>
                  <a:pt x="0" y="0"/>
                </a:moveTo>
                <a:lnTo>
                  <a:pt x="0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22222"/>
            </a:solidFill>
          </a:ln>
        </p:spPr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F866F608-FBE4-44D2-AD34-CE171B2C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256" y="9450547"/>
            <a:ext cx="103238" cy="112553"/>
          </a:xfrm>
          <a:custGeom xmlns:a="http://schemas.openxmlformats.org/drawingml/2006/main">
            <a:pathLst>
              <a:path w="103238" h="112553">
                <a:moveTo>
                  <a:pt x="51619" y="112553"/>
                </a:moveTo>
                <a:lnTo>
                  <a:pt x="0" y="0"/>
                </a:lnTo>
                <a:lnTo>
                  <a:pt x="103238" y="0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97D2C2AD-1E7D-4B41-8E1F-2B2445E7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9077325"/>
            <a:ext cx="85725" cy="485775"/>
          </a:xfrm>
          <a:custGeom xmlns:a="http://schemas.openxmlformats.org/drawingml/2006/main">
            <a:pathLst>
              <a:path w="85725" h="485775">
                <a:moveTo>
                  <a:pt x="0" y="0"/>
                </a:moveTo>
                <a:lnTo>
                  <a:pt x="1" y="16219"/>
                </a:lnTo>
                <a:lnTo>
                  <a:pt x="11" y="32025"/>
                </a:lnTo>
                <a:lnTo>
                  <a:pt x="36" y="47435"/>
                </a:lnTo>
                <a:lnTo>
                  <a:pt x="86" y="62465"/>
                </a:lnTo>
                <a:lnTo>
                  <a:pt x="167" y="77130"/>
                </a:lnTo>
                <a:lnTo>
                  <a:pt x="289" y="91447"/>
                </a:lnTo>
                <a:lnTo>
                  <a:pt x="459" y="105432"/>
                </a:lnTo>
                <a:lnTo>
                  <a:pt x="686" y="119101"/>
                </a:lnTo>
                <a:lnTo>
                  <a:pt x="976" y="132469"/>
                </a:lnTo>
                <a:lnTo>
                  <a:pt x="1339" y="145554"/>
                </a:lnTo>
                <a:lnTo>
                  <a:pt x="1783" y="158371"/>
                </a:lnTo>
                <a:lnTo>
                  <a:pt x="2315" y="170936"/>
                </a:lnTo>
                <a:lnTo>
                  <a:pt x="2943" y="183265"/>
                </a:lnTo>
                <a:lnTo>
                  <a:pt x="3675" y="195374"/>
                </a:lnTo>
                <a:lnTo>
                  <a:pt x="4521" y="207280"/>
                </a:lnTo>
                <a:lnTo>
                  <a:pt x="5486" y="218999"/>
                </a:lnTo>
                <a:lnTo>
                  <a:pt x="6581" y="230546"/>
                </a:lnTo>
                <a:lnTo>
                  <a:pt x="7812" y="241937"/>
                </a:lnTo>
                <a:lnTo>
                  <a:pt x="9187" y="253190"/>
                </a:lnTo>
                <a:lnTo>
                  <a:pt x="10716" y="264319"/>
                </a:lnTo>
                <a:lnTo>
                  <a:pt x="12405" y="275341"/>
                </a:lnTo>
                <a:lnTo>
                  <a:pt x="14262" y="286271"/>
                </a:lnTo>
                <a:lnTo>
                  <a:pt x="16297" y="297127"/>
                </a:lnTo>
                <a:lnTo>
                  <a:pt x="18517" y="307924"/>
                </a:lnTo>
                <a:lnTo>
                  <a:pt x="20929" y="318678"/>
                </a:lnTo>
                <a:lnTo>
                  <a:pt x="23542" y="329405"/>
                </a:lnTo>
                <a:lnTo>
                  <a:pt x="26364" y="340122"/>
                </a:lnTo>
                <a:lnTo>
                  <a:pt x="29404" y="350844"/>
                </a:lnTo>
                <a:lnTo>
                  <a:pt x="32668" y="361587"/>
                </a:lnTo>
                <a:lnTo>
                  <a:pt x="36165" y="372368"/>
                </a:lnTo>
                <a:lnTo>
                  <a:pt x="39904" y="383202"/>
                </a:lnTo>
                <a:lnTo>
                  <a:pt x="43891" y="394106"/>
                </a:lnTo>
                <a:lnTo>
                  <a:pt x="48136" y="405096"/>
                </a:lnTo>
                <a:lnTo>
                  <a:pt x="52646" y="416188"/>
                </a:lnTo>
                <a:lnTo>
                  <a:pt x="57429" y="427397"/>
                </a:lnTo>
                <a:lnTo>
                  <a:pt x="62494" y="438741"/>
                </a:lnTo>
                <a:lnTo>
                  <a:pt x="67847" y="450234"/>
                </a:lnTo>
                <a:lnTo>
                  <a:pt x="73498" y="461893"/>
                </a:lnTo>
                <a:lnTo>
                  <a:pt x="79455" y="473735"/>
                </a:lnTo>
                <a:lnTo>
                  <a:pt x="85725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22222"/>
            </a:solidFill>
          </a:ln>
        </p:spPr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E76FF56F-46E2-41BA-B12E-166B4FCC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930" y="9439431"/>
            <a:ext cx="97770" cy="123669"/>
          </a:xfrm>
          <a:custGeom xmlns:a="http://schemas.openxmlformats.org/drawingml/2006/main">
            <a:pathLst>
              <a:path w="97770" h="123669">
                <a:moveTo>
                  <a:pt x="97770" y="123669"/>
                </a:moveTo>
                <a:lnTo>
                  <a:pt x="0" y="47684"/>
                </a:lnTo>
                <a:lnTo>
                  <a:pt x="91566" y="0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</a:ln>
        </p:spPr>
      </p:sp>
      <p:sp>
        <p:nvSpPr>
          <p:cNvPr id="59" name="SEC-017-59">
            <a:extLst xmlns:a="http://schemas.openxmlformats.org/drawingml/2006/main">
              <a:ext uri="{FF2B5EF4-FFF2-40B4-BE49-F238E27FC236}">
                <a16:creationId xmlns:a16="http://schemas.microsoft.com/office/drawing/2014/main" id="{D6C0B875-C362-4C78-85BD-56C2126C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47675"/>
            <a:ext cx="1657350" cy="5238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EFFF7"/>
          </a:solidFill>
          <a:ln xmlns:a="http://schemas.openxmlformats.org/drawingml/2006/main" w="15240">
            <a:solidFill>
              <a:srgbClr val="61DEC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0" name="SEC-017-60">
            <a:extLst xmlns:a="http://schemas.openxmlformats.org/drawingml/2006/main">
              <a:ext uri="{FF2B5EF4-FFF2-40B4-BE49-F238E27FC236}">
                <a16:creationId xmlns:a16="http://schemas.microsoft.com/office/drawing/2014/main" id="{BF3241EA-C2F0-4064-B2A2-9BA9A73C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76250"/>
            <a:ext cx="1504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A99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A998A"/>
                </a:solidFill>
                <a:latin typeface="Arial"/>
                <a:ea typeface="Arial"/>
                <a:cs typeface="Arial"/>
              </a:rPr>
              <a:t>Query Input IDs</a:t>
            </a:r>
          </a:p>
        </p:txBody>
      </p:sp>
      <p:sp>
        <p:nvSpPr>
          <p:cNvPr id="61" name="SEC-017-61">
            <a:extLst xmlns:a="http://schemas.openxmlformats.org/drawingml/2006/main">
              <a:ext uri="{FF2B5EF4-FFF2-40B4-BE49-F238E27FC236}">
                <a16:creationId xmlns:a16="http://schemas.microsoft.com/office/drawing/2014/main" id="{8492F86D-412A-4880-ADA9-E3D82BD1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7775" y="447675"/>
            <a:ext cx="2162175" cy="5238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EFFF7"/>
          </a:solidFill>
          <a:ln xmlns:a="http://schemas.openxmlformats.org/drawingml/2006/main" w="15240">
            <a:solidFill>
              <a:srgbClr val="61DEC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2" name="SEC-017-62">
            <a:extLst xmlns:a="http://schemas.openxmlformats.org/drawingml/2006/main">
              <a:ext uri="{FF2B5EF4-FFF2-40B4-BE49-F238E27FC236}">
                <a16:creationId xmlns:a16="http://schemas.microsoft.com/office/drawing/2014/main" id="{4716AEB6-B423-4F9F-B8FA-418F88D6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476250"/>
            <a:ext cx="2009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A99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A998A"/>
                </a:solidFill>
                <a:latin typeface="Arial"/>
                <a:ea typeface="Arial"/>
                <a:cs typeface="Arial"/>
              </a:rPr>
              <a:t>Query Attention Mask</a:t>
            </a:r>
          </a:p>
        </p:txBody>
      </p:sp>
      <p:sp>
        <p:nvSpPr>
          <p:cNvPr id="63" name="SEC-017-63">
            <a:extLst xmlns:a="http://schemas.openxmlformats.org/drawingml/2006/main">
              <a:ext uri="{FF2B5EF4-FFF2-40B4-BE49-F238E27FC236}">
                <a16:creationId xmlns:a16="http://schemas.microsoft.com/office/drawing/2014/main" id="{C531863D-6401-4494-9DF4-55C6F73C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400" y="447675"/>
            <a:ext cx="1647825" cy="5238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E0E5"/>
          </a:solidFill>
          <a:ln xmlns:a="http://schemas.openxmlformats.org/drawingml/2006/main" w="15240">
            <a:solidFill>
              <a:srgbClr val="F5708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4" name="SEC-017-64">
            <a:extLst xmlns:a="http://schemas.openxmlformats.org/drawingml/2006/main">
              <a:ext uri="{FF2B5EF4-FFF2-40B4-BE49-F238E27FC236}">
                <a16:creationId xmlns:a16="http://schemas.microsoft.com/office/drawing/2014/main" id="{069750C1-F6AB-475C-AA3E-2CE2D122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476250"/>
            <a:ext cx="14954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9E314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9E3148"/>
                </a:solidFill>
                <a:latin typeface="Arial"/>
                <a:ea typeface="Arial"/>
                <a:cs typeface="Arial"/>
              </a:rPr>
              <a:t>SERP Input IDs</a:t>
            </a:r>
          </a:p>
        </p:txBody>
      </p:sp>
      <p:sp>
        <p:nvSpPr>
          <p:cNvPr id="65" name="SEC-017-65">
            <a:extLst xmlns:a="http://schemas.openxmlformats.org/drawingml/2006/main">
              <a:ext uri="{FF2B5EF4-FFF2-40B4-BE49-F238E27FC236}">
                <a16:creationId xmlns:a16="http://schemas.microsoft.com/office/drawing/2014/main" id="{F9DB71F1-6A13-4A7F-B09D-F2D14A8E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2625" y="447675"/>
            <a:ext cx="2124075" cy="5238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E0E5"/>
          </a:solidFill>
          <a:ln xmlns:a="http://schemas.openxmlformats.org/drawingml/2006/main" w="15240">
            <a:solidFill>
              <a:srgbClr val="F5708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6" name="SEC-017-66">
            <a:extLst xmlns:a="http://schemas.openxmlformats.org/drawingml/2006/main">
              <a:ext uri="{FF2B5EF4-FFF2-40B4-BE49-F238E27FC236}">
                <a16:creationId xmlns:a16="http://schemas.microsoft.com/office/drawing/2014/main" id="{CE14C73A-30EC-4BFC-AE97-5BCFEFA6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58825" y="476250"/>
            <a:ext cx="19716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9E314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9E3148"/>
                </a:solidFill>
                <a:latin typeface="Arial"/>
                <a:ea typeface="Arial"/>
                <a:cs typeface="Arial"/>
              </a:rPr>
              <a:t>SERP Attention Mask</a:t>
            </a:r>
          </a:p>
        </p:txBody>
      </p:sp>
      <p:sp>
        <p:nvSpPr>
          <p:cNvPr id="67" name="SEC-017-67">
            <a:extLst xmlns:a="http://schemas.openxmlformats.org/drawingml/2006/main">
              <a:ext uri="{FF2B5EF4-FFF2-40B4-BE49-F238E27FC236}">
                <a16:creationId xmlns:a16="http://schemas.microsoft.com/office/drawing/2014/main" id="{10481E58-15D3-4931-9375-18537382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2300" y="2066925"/>
            <a:ext cx="1266825" cy="533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276C52"/>
          </a:solidFill>
          <a:ln xmlns:a="http://schemas.openxmlformats.org/drawingml/2006/main" w="15240">
            <a:solidFill>
              <a:srgbClr val="276C5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8" name="SEC-017-68">
            <a:extLst xmlns:a="http://schemas.openxmlformats.org/drawingml/2006/main">
              <a:ext uri="{FF2B5EF4-FFF2-40B4-BE49-F238E27FC236}">
                <a16:creationId xmlns:a16="http://schemas.microsoft.com/office/drawing/2014/main" id="{56FE657A-A1A7-48E7-81F6-BB4A1D23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2095500"/>
            <a:ext cx="1114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DistilBERT</a:t>
            </a:r>
          </a:p>
        </p:txBody>
      </p:sp>
      <p:sp>
        <p:nvSpPr>
          <p:cNvPr id="69" name="SEC-017-69">
            <a:extLst xmlns:a="http://schemas.openxmlformats.org/drawingml/2006/main">
              <a:ext uri="{FF2B5EF4-FFF2-40B4-BE49-F238E27FC236}">
                <a16:creationId xmlns:a16="http://schemas.microsoft.com/office/drawing/2014/main" id="{CD5A3782-8359-42FB-A960-A08E4DE1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3143250"/>
            <a:ext cx="2324100" cy="533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DEFFF7"/>
          </a:solidFill>
          <a:ln xmlns:a="http://schemas.openxmlformats.org/drawingml/2006/main" w="15240">
            <a:solidFill>
              <a:srgbClr val="61DEC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0" name="SEC-017-70">
            <a:extLst xmlns:a="http://schemas.openxmlformats.org/drawingml/2006/main">
              <a:ext uri="{FF2B5EF4-FFF2-40B4-BE49-F238E27FC236}">
                <a16:creationId xmlns:a16="http://schemas.microsoft.com/office/drawing/2014/main" id="{0FE0132D-747B-44E6-970C-1B70464B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317182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A99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A998A"/>
                </a:solidFill>
                <a:latin typeface="Arial"/>
                <a:ea typeface="Arial"/>
                <a:cs typeface="Arial"/>
              </a:rPr>
              <a:t>Teacher Attention Maps</a:t>
            </a:r>
          </a:p>
        </p:txBody>
      </p:sp>
      <p:sp>
        <p:nvSpPr>
          <p:cNvPr id="71" name="SEC-017-71">
            <a:extLst xmlns:a="http://schemas.openxmlformats.org/drawingml/2006/main">
              <a:ext uri="{FF2B5EF4-FFF2-40B4-BE49-F238E27FC236}">
                <a16:creationId xmlns:a16="http://schemas.microsoft.com/office/drawing/2014/main" id="{B1A59082-DF40-4F3A-92E2-4F7039A7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4825" y="3143250"/>
            <a:ext cx="2190750" cy="533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DEFFF7"/>
          </a:solidFill>
          <a:ln xmlns:a="http://schemas.openxmlformats.org/drawingml/2006/main" w="15240">
            <a:solidFill>
              <a:srgbClr val="61DEC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2" name="SEC-017-72">
            <a:extLst xmlns:a="http://schemas.openxmlformats.org/drawingml/2006/main">
              <a:ext uri="{FF2B5EF4-FFF2-40B4-BE49-F238E27FC236}">
                <a16:creationId xmlns:a16="http://schemas.microsoft.com/office/drawing/2014/main" id="{11BABF6E-5376-49F3-9A2E-ADBCE054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1025" y="3171825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A99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A998A"/>
                </a:solidFill>
                <a:latin typeface="Arial"/>
                <a:ea typeface="Arial"/>
                <a:cs typeface="Arial"/>
              </a:rPr>
              <a:t>Query Representation</a:t>
            </a:r>
          </a:p>
        </p:txBody>
      </p:sp>
      <p:sp>
        <p:nvSpPr>
          <p:cNvPr id="73" name="SEC-017-73">
            <a:extLst xmlns:a="http://schemas.openxmlformats.org/drawingml/2006/main">
              <a:ext uri="{FF2B5EF4-FFF2-40B4-BE49-F238E27FC236}">
                <a16:creationId xmlns:a16="http://schemas.microsoft.com/office/drawing/2014/main" id="{D005BB51-6660-47CF-9A88-F03AD469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1575" y="2066925"/>
            <a:ext cx="1257300" cy="533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276C52"/>
          </a:solidFill>
          <a:ln xmlns:a="http://schemas.openxmlformats.org/drawingml/2006/main" w="15240">
            <a:solidFill>
              <a:srgbClr val="276C5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4" name="SEC-017-74">
            <a:extLst xmlns:a="http://schemas.openxmlformats.org/drawingml/2006/main">
              <a:ext uri="{FF2B5EF4-FFF2-40B4-BE49-F238E27FC236}">
                <a16:creationId xmlns:a16="http://schemas.microsoft.com/office/drawing/2014/main" id="{4FAB3CBC-8DFF-487A-91CB-3CECEE0D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7775" y="2095500"/>
            <a:ext cx="110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DistilBERT</a:t>
            </a:r>
          </a:p>
        </p:txBody>
      </p:sp>
      <p:sp>
        <p:nvSpPr>
          <p:cNvPr id="75" name="SEC-017-75">
            <a:extLst xmlns:a="http://schemas.openxmlformats.org/drawingml/2006/main">
              <a:ext uri="{FF2B5EF4-FFF2-40B4-BE49-F238E27FC236}">
                <a16:creationId xmlns:a16="http://schemas.microsoft.com/office/drawing/2014/main" id="{C3F114D2-BD60-4C83-B08F-A6AD677B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3900" y="3143250"/>
            <a:ext cx="2162175" cy="533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E0E5"/>
          </a:solidFill>
          <a:ln xmlns:a="http://schemas.openxmlformats.org/drawingml/2006/main" w="15240">
            <a:solidFill>
              <a:srgbClr val="F5708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6" name="SEC-017-76">
            <a:extLst xmlns:a="http://schemas.openxmlformats.org/drawingml/2006/main">
              <a:ext uri="{FF2B5EF4-FFF2-40B4-BE49-F238E27FC236}">
                <a16:creationId xmlns:a16="http://schemas.microsoft.com/office/drawing/2014/main" id="{DD8BD56F-456C-4EA8-8B85-6E957E65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0100" y="3171825"/>
            <a:ext cx="2009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9E314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9E3148"/>
                </a:solidFill>
                <a:latin typeface="Arial"/>
                <a:ea typeface="Arial"/>
                <a:cs typeface="Arial"/>
              </a:rPr>
              <a:t>SERP Representation</a:t>
            </a:r>
          </a:p>
        </p:txBody>
      </p:sp>
      <p:sp>
        <p:nvSpPr>
          <p:cNvPr id="77" name="SEC-017-77">
            <a:extLst xmlns:a="http://schemas.openxmlformats.org/drawingml/2006/main">
              <a:ext uri="{FF2B5EF4-FFF2-40B4-BE49-F238E27FC236}">
                <a16:creationId xmlns:a16="http://schemas.microsoft.com/office/drawing/2014/main" id="{E9386D32-A35E-41DF-BF2C-64020244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4772025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7B86D"/>
            </a:solidFill>
            <a:prstDash val="dash"/>
          </a:ln>
        </p:spPr>
      </p:sp>
      <p:sp>
        <p:nvSpPr>
          <p:cNvPr id="78" name="SEC-017-78">
            <a:extLst xmlns:a="http://schemas.openxmlformats.org/drawingml/2006/main">
              <a:ext uri="{FF2B5EF4-FFF2-40B4-BE49-F238E27FC236}">
                <a16:creationId xmlns:a16="http://schemas.microsoft.com/office/drawing/2014/main" id="{2506ADF8-9FB6-4BD3-AF4E-D5F7B211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8175" y="48291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577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577FF"/>
                </a:solidFill>
                <a:latin typeface="Arial"/>
                <a:ea typeface="Arial"/>
                <a:cs typeface="Arial"/>
              </a:rPr>
              <a:t>Attention Alignment</a:t>
            </a:r>
          </a:p>
        </p:txBody>
      </p:sp>
      <p:sp>
        <p:nvSpPr>
          <p:cNvPr id="79" name="SEC-017-79">
            <a:extLst xmlns:a="http://schemas.openxmlformats.org/drawingml/2006/main">
              <a:ext uri="{FF2B5EF4-FFF2-40B4-BE49-F238E27FC236}">
                <a16:creationId xmlns:a16="http://schemas.microsoft.com/office/drawing/2014/main" id="{B0278C65-F2BF-4892-A7F0-8148CDA5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8925" y="6257925"/>
            <a:ext cx="1266825" cy="533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276C52"/>
          </a:solidFill>
          <a:ln xmlns:a="http://schemas.openxmlformats.org/drawingml/2006/main" w="15240">
            <a:solidFill>
              <a:srgbClr val="276C5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0" name="SEC-017-80">
            <a:extLst xmlns:a="http://schemas.openxmlformats.org/drawingml/2006/main">
              <a:ext uri="{FF2B5EF4-FFF2-40B4-BE49-F238E27FC236}">
                <a16:creationId xmlns:a16="http://schemas.microsoft.com/office/drawing/2014/main" id="{AFD0B30F-0049-4AC8-ABFF-E1FC1576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6286500"/>
            <a:ext cx="1114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DistilBERT</a:t>
            </a:r>
          </a:p>
        </p:txBody>
      </p:sp>
      <p:sp>
        <p:nvSpPr>
          <p:cNvPr id="81" name="SEC-017-81">
            <a:extLst xmlns:a="http://schemas.openxmlformats.org/drawingml/2006/main">
              <a:ext uri="{FF2B5EF4-FFF2-40B4-BE49-F238E27FC236}">
                <a16:creationId xmlns:a16="http://schemas.microsoft.com/office/drawing/2014/main" id="{2B24A61B-6873-4D9E-BA84-63E9D04B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7467600"/>
            <a:ext cx="2200275" cy="533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DEFFF7"/>
          </a:solidFill>
          <a:ln xmlns:a="http://schemas.openxmlformats.org/drawingml/2006/main" w="15240">
            <a:solidFill>
              <a:srgbClr val="61DEC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2" name="SEC-017-82">
            <a:extLst xmlns:a="http://schemas.openxmlformats.org/drawingml/2006/main">
              <a:ext uri="{FF2B5EF4-FFF2-40B4-BE49-F238E27FC236}">
                <a16:creationId xmlns:a16="http://schemas.microsoft.com/office/drawing/2014/main" id="{96C9D651-66B8-4EF7-A54A-B8A2FE90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74961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A99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A998A"/>
                </a:solidFill>
                <a:latin typeface="Arial"/>
                <a:ea typeface="Arial"/>
                <a:cs typeface="Arial"/>
              </a:rPr>
              <a:t>Query Representation</a:t>
            </a:r>
          </a:p>
        </p:txBody>
      </p:sp>
      <p:sp>
        <p:nvSpPr>
          <p:cNvPr id="83" name="SEC-017-83">
            <a:extLst xmlns:a="http://schemas.openxmlformats.org/drawingml/2006/main">
              <a:ext uri="{FF2B5EF4-FFF2-40B4-BE49-F238E27FC236}">
                <a16:creationId xmlns:a16="http://schemas.microsoft.com/office/drawing/2014/main" id="{A7AE9FBC-EBFC-4F25-8941-47075292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543925"/>
            <a:ext cx="1695450" cy="5238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15240">
            <a:solidFill>
              <a:srgbClr val="F7BA7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4" name="SEC-017-84">
            <a:extLst xmlns:a="http://schemas.openxmlformats.org/drawingml/2006/main">
              <a:ext uri="{FF2B5EF4-FFF2-40B4-BE49-F238E27FC236}">
                <a16:creationId xmlns:a16="http://schemas.microsoft.com/office/drawing/2014/main" id="{B97426ED-2938-4B88-AADD-C676B82A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8572500"/>
            <a:ext cx="1543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A5763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57639"/>
                </a:solidFill>
                <a:latin typeface="Arial"/>
                <a:ea typeface="Arial"/>
                <a:cs typeface="Arial"/>
              </a:rPr>
              <a:t>Prediction Head</a:t>
            </a:r>
          </a:p>
        </p:txBody>
      </p:sp>
      <p:sp>
        <p:nvSpPr>
          <p:cNvPr id="85" name="SEC-017-85">
            <a:extLst xmlns:a="http://schemas.openxmlformats.org/drawingml/2006/main">
              <a:ext uri="{FF2B5EF4-FFF2-40B4-BE49-F238E27FC236}">
                <a16:creationId xmlns:a16="http://schemas.microsoft.com/office/drawing/2014/main" id="{F8D14554-E9A9-4430-88B2-65B2C4EE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4275" y="8543925"/>
            <a:ext cx="1304925" cy="5238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15240">
            <a:solidFill>
              <a:srgbClr val="F7BA7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6" name="SEC-017-86">
            <a:extLst xmlns:a="http://schemas.openxmlformats.org/drawingml/2006/main">
              <a:ext uri="{FF2B5EF4-FFF2-40B4-BE49-F238E27FC236}">
                <a16:creationId xmlns:a16="http://schemas.microsoft.com/office/drawing/2014/main" id="{972EABE8-E4B7-4F8D-AD22-4902CC3F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475" y="8572500"/>
            <a:ext cx="1152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A5763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57639"/>
                </a:solidFill>
                <a:latin typeface="Arial"/>
                <a:ea typeface="Arial"/>
                <a:cs typeface="Arial"/>
              </a:rPr>
              <a:t>Distill Head</a:t>
            </a:r>
          </a:p>
        </p:txBody>
      </p:sp>
      <p:sp>
        <p:nvSpPr>
          <p:cNvPr id="87" name="SEC-017-87">
            <a:extLst xmlns:a="http://schemas.openxmlformats.org/drawingml/2006/main">
              <a:ext uri="{FF2B5EF4-FFF2-40B4-BE49-F238E27FC236}">
                <a16:creationId xmlns:a16="http://schemas.microsoft.com/office/drawing/2014/main" id="{74A51DC9-AED9-4CD2-B9F1-51512EC7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9620250"/>
            <a:ext cx="1409700" cy="5238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15240">
            <a:solidFill>
              <a:srgbClr val="F7BA7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8" name="SEC-017-88">
            <a:extLst xmlns:a="http://schemas.openxmlformats.org/drawingml/2006/main">
              <a:ext uri="{FF2B5EF4-FFF2-40B4-BE49-F238E27FC236}">
                <a16:creationId xmlns:a16="http://schemas.microsoft.com/office/drawing/2014/main" id="{BB36BF46-AD67-473E-BAEC-5EC45E38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0" y="9648825"/>
            <a:ext cx="1257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A5763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57639"/>
                </a:solidFill>
                <a:latin typeface="Arial"/>
                <a:ea typeface="Arial"/>
                <a:cs typeface="Arial"/>
              </a:rPr>
              <a:t>Student Hint</a:t>
            </a:r>
          </a:p>
        </p:txBody>
      </p:sp>
      <p:sp>
        <p:nvSpPr>
          <p:cNvPr id="89" name="SEC-017-89">
            <a:extLst xmlns:a="http://schemas.openxmlformats.org/drawingml/2006/main">
              <a:ext uri="{FF2B5EF4-FFF2-40B4-BE49-F238E27FC236}">
                <a16:creationId xmlns:a16="http://schemas.microsoft.com/office/drawing/2014/main" id="{578A022F-B402-4B54-8490-3D2F29B7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" y="9610725"/>
            <a:ext cx="2257425" cy="542925"/>
          </a:xfrm>
          <a:prstGeom xmlns:a="http://schemas.openxmlformats.org/drawingml/2006/main" prst="roundRect">
            <a:avLst>
              <a:gd name="adj" fmla="val 5263"/>
            </a:avLst>
          </a:prstGeom>
          <a:gradFill xmlns:a="http://schemas.openxmlformats.org/drawingml/2006/main">
            <a:gsLst>
              <a:gs pos="0">
                <a:srgbClr val="2F5DFF"/>
              </a:gs>
              <a:gs pos="100000">
                <a:srgbClr val="FF2464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90" name="SEC-017-90">
            <a:extLst xmlns:a="http://schemas.openxmlformats.org/drawingml/2006/main">
              <a:ext uri="{FF2B5EF4-FFF2-40B4-BE49-F238E27FC236}">
                <a16:creationId xmlns:a16="http://schemas.microsoft.com/office/drawing/2014/main" id="{171C6A18-370E-46DE-867C-ADF85A5D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9658350"/>
            <a:ext cx="21621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1" name="SEC-017-91">
            <a:extLst xmlns:a="http://schemas.openxmlformats.org/drawingml/2006/main">
              <a:ext uri="{FF2B5EF4-FFF2-40B4-BE49-F238E27FC236}">
                <a16:creationId xmlns:a16="http://schemas.microsoft.com/office/drawing/2014/main" id="{BCB329BD-09F5-4BC4-8445-A4069C08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677400"/>
            <a:ext cx="2124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44444"/>
                </a:solidFill>
                <a:latin typeface="Arial"/>
                <a:ea typeface="Arial"/>
                <a:cs typeface="Arial"/>
              </a:rPr>
              <a:t>Student Toxicity Score</a:t>
            </a:r>
          </a:p>
        </p:txBody>
      </p:sp>
      <p:sp>
        <p:nvSpPr>
          <p:cNvPr id="92" name="SEC-017-92">
            <a:extLst xmlns:a="http://schemas.openxmlformats.org/drawingml/2006/main">
              <a:ext uri="{FF2B5EF4-FFF2-40B4-BE49-F238E27FC236}">
                <a16:creationId xmlns:a16="http://schemas.microsoft.com/office/drawing/2014/main" id="{12B4EB58-C1E4-494C-BF8E-291557B7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4775" y="4772025"/>
            <a:ext cx="1409700" cy="533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15240">
            <a:solidFill>
              <a:srgbClr val="F7BA7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3" name="SEC-017-93">
            <a:extLst xmlns:a="http://schemas.openxmlformats.org/drawingml/2006/main">
              <a:ext uri="{FF2B5EF4-FFF2-40B4-BE49-F238E27FC236}">
                <a16:creationId xmlns:a16="http://schemas.microsoft.com/office/drawing/2014/main" id="{DBBFF5F1-E301-4CB6-819B-26EEA608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0975" y="4800600"/>
            <a:ext cx="1257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A5763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57639"/>
                </a:solidFill>
                <a:latin typeface="Arial"/>
                <a:ea typeface="Arial"/>
                <a:cs typeface="Arial"/>
              </a:rPr>
              <a:t>Concatenate</a:t>
            </a:r>
          </a:p>
        </p:txBody>
      </p:sp>
      <p:sp>
        <p:nvSpPr>
          <p:cNvPr id="94" name="SEC-017-94">
            <a:extLst xmlns:a="http://schemas.openxmlformats.org/drawingml/2006/main">
              <a:ext uri="{FF2B5EF4-FFF2-40B4-BE49-F238E27FC236}">
                <a16:creationId xmlns:a16="http://schemas.microsoft.com/office/drawing/2014/main" id="{F1AF3B8E-DED7-45A6-8F63-DAE39826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6124575"/>
            <a:ext cx="2552700" cy="8001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15240">
            <a:solidFill>
              <a:srgbClr val="F7BA7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5" name="SEC-017-95">
            <a:extLst xmlns:a="http://schemas.openxmlformats.org/drawingml/2006/main">
              <a:ext uri="{FF2B5EF4-FFF2-40B4-BE49-F238E27FC236}">
                <a16:creationId xmlns:a16="http://schemas.microsoft.com/office/drawing/2014/main" id="{1F70E5CC-632A-426D-833A-02F322CA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9475" y="6153150"/>
            <a:ext cx="240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A5763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57639"/>
                </a:solidFill>
                <a:latin typeface="Arial"/>
                <a:ea typeface="Arial"/>
                <a:cs typeface="Arial"/>
              </a:rPr>
              <a:t>Linear Layer + ReLU +</a:t>
            </a:r>
          </a:p>
          <a:p xmlns:a="http://schemas.openxmlformats.org/drawingml/2006/main">
            <a:pPr algn="ctr">
              <a:defRPr sz="1500" b="1" i="0">
                <a:solidFill>
                  <a:srgbClr val="A5763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57639"/>
                </a:solidFill>
                <a:latin typeface="Arial"/>
                <a:ea typeface="Arial"/>
                <a:cs typeface="Arial"/>
              </a:rPr>
              <a:t>Dropout</a:t>
            </a:r>
          </a:p>
        </p:txBody>
      </p:sp>
      <p:sp>
        <p:nvSpPr>
          <p:cNvPr id="96" name="SEC-017-96">
            <a:extLst xmlns:a="http://schemas.openxmlformats.org/drawingml/2006/main">
              <a:ext uri="{FF2B5EF4-FFF2-40B4-BE49-F238E27FC236}">
                <a16:creationId xmlns:a16="http://schemas.microsoft.com/office/drawing/2014/main" id="{B4B4F2CF-AAB0-4CE4-A866-D801463E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7467600"/>
            <a:ext cx="2200275" cy="5238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15240">
            <a:solidFill>
              <a:srgbClr val="F7BA7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7" name="SEC-017-97">
            <a:extLst xmlns:a="http://schemas.openxmlformats.org/drawingml/2006/main">
              <a:ext uri="{FF2B5EF4-FFF2-40B4-BE49-F238E27FC236}">
                <a16:creationId xmlns:a16="http://schemas.microsoft.com/office/drawing/2014/main" id="{60C6F32D-AEBF-4284-A599-C2612EE0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7496175"/>
            <a:ext cx="2047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A5763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57639"/>
                </a:solidFill>
                <a:latin typeface="Arial"/>
                <a:ea typeface="Arial"/>
                <a:cs typeface="Arial"/>
              </a:rPr>
              <a:t>Fused Representation</a:t>
            </a:r>
          </a:p>
        </p:txBody>
      </p:sp>
      <p:sp>
        <p:nvSpPr>
          <p:cNvPr id="98" name="SEC-017-98">
            <a:extLst xmlns:a="http://schemas.openxmlformats.org/drawingml/2006/main">
              <a:ext uri="{FF2B5EF4-FFF2-40B4-BE49-F238E27FC236}">
                <a16:creationId xmlns:a16="http://schemas.microsoft.com/office/drawing/2014/main" id="{D2464087-398A-4B9B-8FD3-A94DEB4F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06275" y="8543925"/>
            <a:ext cx="1828800" cy="5238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15240">
            <a:solidFill>
              <a:srgbClr val="F7BA7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9" name="SEC-017-99">
            <a:extLst xmlns:a="http://schemas.openxmlformats.org/drawingml/2006/main">
              <a:ext uri="{FF2B5EF4-FFF2-40B4-BE49-F238E27FC236}">
                <a16:creationId xmlns:a16="http://schemas.microsoft.com/office/drawing/2014/main" id="{2C4F86ED-800F-4831-A2E5-FDAF8FE2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2475" y="8572500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A5763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57639"/>
                </a:solidFill>
                <a:latin typeface="Arial"/>
                <a:ea typeface="Arial"/>
                <a:cs typeface="Arial"/>
              </a:rPr>
              <a:t>Regression Layer</a:t>
            </a:r>
          </a:p>
        </p:txBody>
      </p:sp>
      <p:sp>
        <p:nvSpPr>
          <p:cNvPr id="100" name="SEC-017-100">
            <a:extLst xmlns:a="http://schemas.openxmlformats.org/drawingml/2006/main">
              <a:ext uri="{FF2B5EF4-FFF2-40B4-BE49-F238E27FC236}">
                <a16:creationId xmlns:a16="http://schemas.microsoft.com/office/drawing/2014/main" id="{D76B256B-3674-465E-ADCE-B931B46C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7200" y="9610725"/>
            <a:ext cx="2276475" cy="542925"/>
          </a:xfrm>
          <a:prstGeom xmlns:a="http://schemas.openxmlformats.org/drawingml/2006/main" prst="roundRect">
            <a:avLst>
              <a:gd name="adj" fmla="val 5263"/>
            </a:avLst>
          </a:prstGeom>
          <a:gradFill xmlns:a="http://schemas.openxmlformats.org/drawingml/2006/main">
            <a:gsLst>
              <a:gs pos="0">
                <a:srgbClr val="2F5DFF"/>
              </a:gs>
              <a:gs pos="100000">
                <a:srgbClr val="FF2464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01" name="SEC-017-101">
            <a:extLst xmlns:a="http://schemas.openxmlformats.org/drawingml/2006/main">
              <a:ext uri="{FF2B5EF4-FFF2-40B4-BE49-F238E27FC236}">
                <a16:creationId xmlns:a16="http://schemas.microsoft.com/office/drawing/2014/main" id="{B30846DF-A233-4396-82CD-C7F45EA0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4825" y="9658350"/>
            <a:ext cx="21812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2" name="SEC-017-102">
            <a:extLst xmlns:a="http://schemas.openxmlformats.org/drawingml/2006/main">
              <a:ext uri="{FF2B5EF4-FFF2-40B4-BE49-F238E27FC236}">
                <a16:creationId xmlns:a16="http://schemas.microsoft.com/office/drawing/2014/main" id="{B10AAE52-A0C0-41FC-B2E3-4BF5D630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4350" y="9677400"/>
            <a:ext cx="21621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44444"/>
                </a:solidFill>
                <a:latin typeface="Arial"/>
                <a:ea typeface="Arial"/>
                <a:cs typeface="Arial"/>
              </a:rPr>
              <a:t>Teacher Toxicity Score</a:t>
            </a:r>
          </a:p>
        </p:txBody>
      </p:sp>
      <p:sp>
        <p:nvSpPr>
          <p:cNvPr id="103" name="SEC-017-103">
            <a:extLst xmlns:a="http://schemas.openxmlformats.org/drawingml/2006/main">
              <a:ext uri="{FF2B5EF4-FFF2-40B4-BE49-F238E27FC236}">
                <a16:creationId xmlns:a16="http://schemas.microsoft.com/office/drawing/2014/main" id="{3F5FDB56-430D-4334-BAFB-C68E829C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8543925"/>
            <a:ext cx="17430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7B86D"/>
            </a:solidFill>
            <a:prstDash val="dash"/>
          </a:ln>
        </p:spPr>
      </p:sp>
      <p:sp>
        <p:nvSpPr>
          <p:cNvPr id="104" name="SEC-017-104">
            <a:extLst xmlns:a="http://schemas.openxmlformats.org/drawingml/2006/main">
              <a:ext uri="{FF2B5EF4-FFF2-40B4-BE49-F238E27FC236}">
                <a16:creationId xmlns:a16="http://schemas.microsoft.com/office/drawing/2014/main" id="{7F175210-2CD1-4852-9330-D5A9ADA6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6475" y="86106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577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577FF"/>
                </a:solidFill>
                <a:latin typeface="Arial"/>
                <a:ea typeface="Arial"/>
                <a:cs typeface="Arial"/>
              </a:rPr>
              <a:t>Hint Supervision</a:t>
            </a:r>
          </a:p>
        </p:txBody>
      </p:sp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09d7dc82943b9"/>
          <a:stretch xmlns:a="http://schemas.openxmlformats.org/drawingml/2006/main"/>
        </p:blipFill>
        <p:spPr>
          <a:xfrm xmlns:a="http://schemas.openxmlformats.org/drawingml/2006/main">
            <a:off x="6153150" y="6381750"/>
            <a:ext cx="1457325" cy="1228725"/>
          </a:xfrm>
          <a:prstGeom xmlns:a="http://schemas.openxmlformats.org/drawingml/2006/main" prst="rect">
            <a:avLst/>
          </a:prstGeom>
        </p:spPr>
      </p:pic>
      <p:sp>
        <p:nvSpPr>
          <p:cNvPr id="106" name="SEC-017-105">
            <a:extLst xmlns:a="http://schemas.openxmlformats.org/drawingml/2006/main">
              <a:ext uri="{FF2B5EF4-FFF2-40B4-BE49-F238E27FC236}">
                <a16:creationId xmlns:a16="http://schemas.microsoft.com/office/drawing/2014/main" id="{E61D305D-5C5C-4717-AB0A-9885BA5F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7696200"/>
            <a:ext cx="1362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</a:t>
            </a:r>
          </a:p>
          <a:p xmlns:a="http://schemas.openxmlformats.org/drawingml/2006/main">
            <a:pPr algn="ctr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Distillation</a:t>
            </a:r>
          </a:p>
        </p:txBody>
      </p:sp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cfb0b79d54341"/>
          <a:stretch xmlns:a="http://schemas.openxmlformats.org/drawingml/2006/main"/>
        </p:blipFill>
        <p:spPr>
          <a:xfrm xmlns:a="http://schemas.openxmlformats.org/drawingml/2006/main">
            <a:off x="8667750" y="5238750"/>
            <a:ext cx="885825" cy="876300"/>
          </a:xfrm>
          <a:prstGeom xmlns:a="http://schemas.openxmlformats.org/drawingml/2006/main" prst="rect">
            <a:avLst/>
          </a:prstGeom>
        </p:spPr>
      </p:pic>
      <p:sp>
        <p:nvSpPr>
          <p:cNvPr id="108" name="SEC-017-106">
            <a:extLst xmlns:a="http://schemas.openxmlformats.org/drawingml/2006/main">
              <a:ext uri="{FF2B5EF4-FFF2-40B4-BE49-F238E27FC236}">
                <a16:creationId xmlns:a16="http://schemas.microsoft.com/office/drawing/2014/main" id="{BE03EE61-B5B9-4E64-9B82-A07A4947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8225" y="6181725"/>
            <a:ext cx="121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Teacher</a:t>
            </a:r>
          </a:p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703545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8100" dist="21299" dir="3806097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2026-09-05T08:53:44.1880000Z</dcterms:created>
  <dcterms:modified xsi:type="dcterms:W3CDTF">2026-09-05T08:53:44.1890000Z</dcterms:modified>
</coreProperties>
</file>