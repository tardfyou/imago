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b2e9652846245d4" /><Relationship Type="http://schemas.openxmlformats.org/officeDocument/2006/relationships/extended-properties" Target="/docProps/app.xml" Id="R7caf3a844269485b" /><Relationship Type="http://schemas.openxmlformats.org/officeDocument/2006/relationships/officeDocument" Target="/ppt/presentation.xml" Id="R665723471d7045b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5a06e05fe92402b"/>
  </p:sldMasterIdLst>
  <p:notesMasterIdLst>
    <p:notesMasterId xmlns:r="http://schemas.openxmlformats.org/officeDocument/2006/relationships" r:id="Rb4289a3704044ae3"/>
  </p:notesMasterIdLst>
  <p:sldIdLst>
    <p:sldId xmlns:r="http://schemas.openxmlformats.org/officeDocument/2006/relationships" id="256" r:id="Ra7c4109c9f554852"/>
  </p:sldIdLst>
  <p:sldSz cx="19050000" cy="61912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e6f28c666644c92" /><Relationship Type="http://schemas.openxmlformats.org/officeDocument/2006/relationships/slideMaster" Target="/ppt/slideMasters/slideMaster1.xml" Id="Rf5a06e05fe92402b" /><Relationship Type="http://schemas.openxmlformats.org/officeDocument/2006/relationships/notesMaster" Target="/ppt/notesMasters/notesMaster1.xml" Id="Rb4289a3704044ae3" /><Relationship Type="http://schemas.openxmlformats.org/officeDocument/2006/relationships/presProps" Target="/ppt/presProps.xml" Id="Re3fc9b3c9521484f" /><Relationship Type="http://schemas.openxmlformats.org/officeDocument/2006/relationships/tableStyles" Target="/ppt/tableStyles.xml" Id="Rbdfcaf6ebe2e4e24" /><Relationship Type="http://schemas.openxmlformats.org/officeDocument/2006/relationships/slide" Target="/ppt/slides/slide1.xml" Id="Ra7c4109c9f55485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a96ca8e601648b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dbdc04487474155" /><Relationship Type="http://schemas.openxmlformats.org/officeDocument/2006/relationships/notesMaster" Target="/ppt/notesMasters/notesMaster1.xml" Id="R04290917bdfb4455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素材ID：SEC-049</ns1:t>
            </ns1:r>
          </ns1:p>
          <ns1:p>
            <ns1:r>
              <ns1:t>论文：Small Cell, Big Risk: A Security Assessment of 4G LTE Femtocells in the Wild</ns1:t>
            </ns1:r>
          </ns1:p>
          <ns1:p>
            <ns1:r>
              <ns1:t>会议：NDSS 2026</ns1:t>
            </ns1:r>
          </ns1:p>
          <ns1:p>
            <ns1:r>
              <ns1:t>奖项：Best Paper Award</ns1:t>
            </ns1:r>
          </ns1:p>
          <ns1:p>
            <ns1:r>
              <ns1:t>图号：Figure 2，PDF第3页</ns1:t>
            </ns1:r>
          </ns1:p>
          <ns1:p>
            <ns1:r>
              <ns1:t>类型：威胁与攻击</ns1:t>
            </ns1:r>
          </ns1:p>
          <ns1:p>
            <ns1:r>
              <ns1:t>借鉴点：把硬件、软件及接口分色嵌入设备边界，外部网络组件和本地/邻近/互联网三种攻击者同时定位。</ns1:t>
            </ns1:r>
          </ns1:p>
          <ns1:p>
            <ns1:r>
              <ns1:t>论文URL：https://www.ndss-symposium.org/wp-content/uploads/2026-f1968-paper.pdf</ns1:t>
            </ns1:r>
          </ns1:p>
          <ns1:p>
            <ns1:r>
              <ns1:t>官方获奖URL：https://www.ndss-symposium.org/ndss2026/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a164ec278942d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dc8dff6e6014065" /><Relationship Type="http://schemas.openxmlformats.org/officeDocument/2006/relationships/slideLayout" Target="/ppt/slideLayouts/slideLayout1.xml" Id="Re061a4b640b2468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061a4b640b2468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e0dcb54b3e45fc" /><Relationship Type="http://schemas.openxmlformats.org/officeDocument/2006/relationships/image" Target="/ppt/media/image.png" Id="R73172fff937446cc" /><Relationship Type="http://schemas.openxmlformats.org/officeDocument/2006/relationships/image" Target="/ppt/media/image2.png" Id="Rdd616320eca2455e" /><Relationship Type="http://schemas.openxmlformats.org/officeDocument/2006/relationships/image" Target="/ppt/media/image3.png" Id="R9071ce150e6f4b5f" /><Relationship Type="http://schemas.openxmlformats.org/officeDocument/2006/relationships/image" Target="/ppt/media/image4.png" Id="Rea1da9f6e15f4169" /><Relationship Type="http://schemas.openxmlformats.org/officeDocument/2006/relationships/image" Target="/ppt/media/image5.png" Id="R8be8feb9827c48f6" /><Relationship Type="http://schemas.openxmlformats.org/officeDocument/2006/relationships/image" Target="/ppt/media/image6.png" Id="Rc0c6dda218204bea" /><Relationship Type="http://schemas.openxmlformats.org/officeDocument/2006/relationships/image" Target="/ppt/media/image7.png" Id="R333b1e9b6006459b" /><Relationship Type="http://schemas.openxmlformats.org/officeDocument/2006/relationships/image" Target="/ppt/media/image8.png" Id="R8ef26f5d3f704ed8" /><Relationship Type="http://schemas.openxmlformats.org/officeDocument/2006/relationships/image" Target="/ppt/media/image9.png" Id="R7f383c819e8a4a4c" /><Relationship Type="http://schemas.openxmlformats.org/officeDocument/2006/relationships/notesSlide" Target="/ppt/notesSlides/notesSlide1.xml" Id="R2876a86ee6414d2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SEC-049-1">
            <a:extLst xmlns:a="http://schemas.openxmlformats.org/drawingml/2006/main">
              <a:ext uri="{FF2B5EF4-FFF2-40B4-BE49-F238E27FC236}">
                <a16:creationId xmlns:a16="http://schemas.microsoft.com/office/drawing/2014/main" id="{46EADC38-F34C-4D41-9166-A730D8C57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76625" y="1914525"/>
            <a:ext cx="5695950" cy="3286125"/>
          </a:xfrm>
          <a:prstGeom xmlns:a="http://schemas.openxmlformats.org/drawingml/2006/main" prst="roundRect">
            <a:avLst>
              <a:gd name="adj" fmla="val 150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57150">
            <a:solidFill>
              <a:srgbClr val="000000"/>
            </a:solidFill>
            <a:prstDash val="dash"/>
          </a:ln>
        </p:spPr>
      </p:sp>
      <p:sp>
        <p:nvSpPr>
          <p:cNvPr id="2" name="SEC-049-2">
            <a:extLst xmlns:a="http://schemas.openxmlformats.org/drawingml/2006/main">
              <a:ext uri="{FF2B5EF4-FFF2-40B4-BE49-F238E27FC236}">
                <a16:creationId xmlns:a16="http://schemas.microsoft.com/office/drawing/2014/main" id="{6C45053C-6259-4843-9B42-2A68200D2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81450" y="2114550"/>
            <a:ext cx="2152650" cy="2905125"/>
          </a:xfrm>
          <a:prstGeom xmlns:a="http://schemas.openxmlformats.org/drawingml/2006/main" prst="roundRect">
            <a:avLst>
              <a:gd name="adj" fmla="val 159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57150">
            <a:solidFill>
              <a:srgbClr val="BD9300"/>
            </a:solidFill>
            <a:prstDash val="dash"/>
          </a:ln>
        </p:spPr>
      </p:sp>
      <p:sp>
        <p:nvSpPr>
          <p:cNvPr id="3" name="SEC-049-3">
            <a:extLst xmlns:a="http://schemas.openxmlformats.org/drawingml/2006/main">
              <a:ext uri="{FF2B5EF4-FFF2-40B4-BE49-F238E27FC236}">
                <a16:creationId xmlns:a16="http://schemas.microsoft.com/office/drawing/2014/main" id="{41547AFE-7CFD-45D4-BAFB-5FE168A98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33575" y="3571875"/>
            <a:ext cx="1219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4" name="SEC-049-4">
            <a:extLst xmlns:a="http://schemas.openxmlformats.org/drawingml/2006/main">
              <a:ext uri="{FF2B5EF4-FFF2-40B4-BE49-F238E27FC236}">
                <a16:creationId xmlns:a16="http://schemas.microsoft.com/office/drawing/2014/main" id="{EFFA8F4E-BB2A-4172-A90A-EED23980F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77375" y="4343400"/>
            <a:ext cx="32289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5" name="SEC-049-5">
            <a:extLst xmlns:a="http://schemas.openxmlformats.org/drawingml/2006/main">
              <a:ext uri="{FF2B5EF4-FFF2-40B4-BE49-F238E27FC236}">
                <a16:creationId xmlns:a16="http://schemas.microsoft.com/office/drawing/2014/main" id="{A006BCCD-5684-4F7F-A2E1-DEB3C536E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54125" y="4352925"/>
            <a:ext cx="952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6" name="SEC-049-6">
            <a:extLst xmlns:a="http://schemas.openxmlformats.org/drawingml/2006/main">
              <a:ext uri="{FF2B5EF4-FFF2-40B4-BE49-F238E27FC236}">
                <a16:creationId xmlns:a16="http://schemas.microsoft.com/office/drawing/2014/main" id="{5611A686-A791-42EF-A853-E6FA2898D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240125" y="4352925"/>
            <a:ext cx="9810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7" name="path-7">
            <a:extLst xmlns:a="http://schemas.openxmlformats.org/drawingml/2006/main">
              <a:ext uri="{FF2B5EF4-FFF2-40B4-BE49-F238E27FC236}">
                <a16:creationId xmlns:a16="http://schemas.microsoft.com/office/drawing/2014/main" id="{CCD7EAC6-25EC-444A-BF0A-2CC284255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2609850"/>
            <a:ext cx="4067175" cy="1171575"/>
          </a:xfrm>
          <a:custGeom xmlns:a="http://schemas.openxmlformats.org/drawingml/2006/main">
            <a:pathLst>
              <a:path w="4067175" h="1171575">
                <a:moveTo>
                  <a:pt x="0" y="1171575"/>
                </a:moveTo>
                <a:lnTo>
                  <a:pt x="4067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000000"/>
            </a:solidFill>
            <a:prstDash val="dash"/>
          </a:ln>
        </p:spPr>
      </p:sp>
      <p:sp>
        <p:nvSpPr>
          <p:cNvPr id="8" name="path-8">
            <a:extLst xmlns:a="http://schemas.openxmlformats.org/drawingml/2006/main">
              <a:ext uri="{FF2B5EF4-FFF2-40B4-BE49-F238E27FC236}">
                <a16:creationId xmlns:a16="http://schemas.microsoft.com/office/drawing/2014/main" id="{A1013845-0896-42F8-8A56-7535DDAA2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2619375"/>
            <a:ext cx="1685925" cy="1333500"/>
          </a:xfrm>
          <a:custGeom xmlns:a="http://schemas.openxmlformats.org/drawingml/2006/main">
            <a:pathLst>
              <a:path w="1685925" h="1333500">
                <a:moveTo>
                  <a:pt x="0" y="1333500"/>
                </a:moveTo>
                <a:lnTo>
                  <a:pt x="16859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000000"/>
            </a:solidFill>
            <a:prstDash val="dash"/>
          </a:ln>
        </p:spPr>
      </p:sp>
      <p:sp>
        <p:nvSpPr>
          <p:cNvPr id="9" name="path-9">
            <a:extLst xmlns:a="http://schemas.openxmlformats.org/drawingml/2006/main">
              <a:ext uri="{FF2B5EF4-FFF2-40B4-BE49-F238E27FC236}">
                <a16:creationId xmlns:a16="http://schemas.microsoft.com/office/drawing/2014/main" id="{B50C366E-06DB-4CDC-8D4C-736881073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619375"/>
            <a:ext cx="476250" cy="1866900"/>
          </a:xfrm>
          <a:custGeom xmlns:a="http://schemas.openxmlformats.org/drawingml/2006/main">
            <a:pathLst>
              <a:path w="476250" h="1866900">
                <a:moveTo>
                  <a:pt x="476250" y="0"/>
                </a:moveTo>
                <a:lnTo>
                  <a:pt x="0" y="0"/>
                </a:lnTo>
                <a:lnTo>
                  <a:pt x="476250" y="1866900"/>
                </a:lnTo>
                <a:lnTo>
                  <a:pt x="19050" y="1866900"/>
                </a:lnTo>
              </a:path>
            </a:pathLst>
          </a:custGeom>
          <a:noFill xmlns:a="http://schemas.openxmlformats.org/drawingml/2006/main"/>
          <a:ln xmlns:a="http://schemas.openxmlformats.org/drawingml/2006/main" w="57150">
            <a:solidFill>
              <a:srgbClr val="BE0000"/>
            </a:solidFill>
          </a:ln>
        </p:spPr>
      </p:sp>
      <p:sp>
        <p:nvSpPr>
          <p:cNvPr id="10" name="path-10">
            <a:extLst xmlns:a="http://schemas.openxmlformats.org/drawingml/2006/main">
              <a:ext uri="{FF2B5EF4-FFF2-40B4-BE49-F238E27FC236}">
                <a16:creationId xmlns:a16="http://schemas.microsoft.com/office/drawing/2014/main" id="{F06BCD9D-F9EB-4BF6-98EB-94ACB43C8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3562350"/>
            <a:ext cx="447675" cy="923925"/>
          </a:xfrm>
          <a:custGeom xmlns:a="http://schemas.openxmlformats.org/drawingml/2006/main">
            <a:pathLst>
              <a:path w="447675" h="923925">
                <a:moveTo>
                  <a:pt x="0" y="0"/>
                </a:moveTo>
                <a:lnTo>
                  <a:pt x="447675" y="923925"/>
                </a:lnTo>
              </a:path>
            </a:pathLst>
          </a:custGeom>
          <a:noFill xmlns:a="http://schemas.openxmlformats.org/drawingml/2006/main"/>
          <a:ln xmlns:a="http://schemas.openxmlformats.org/drawingml/2006/main" w="57150">
            <a:solidFill>
              <a:srgbClr val="000000"/>
            </a:solidFill>
          </a:ln>
        </p:spPr>
      </p:sp>
      <p:sp>
        <p:nvSpPr>
          <p:cNvPr id="11" name="SEC-049-11">
            <a:extLst xmlns:a="http://schemas.openxmlformats.org/drawingml/2006/main">
              <a:ext uri="{FF2B5EF4-FFF2-40B4-BE49-F238E27FC236}">
                <a16:creationId xmlns:a16="http://schemas.microsoft.com/office/drawing/2014/main" id="{EFB58EA1-1BF0-4E11-BDE1-D9E60C0B4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43250" y="2447925"/>
            <a:ext cx="74295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B73A5"/>
            </a:solidFill>
          </a:ln>
        </p:spPr>
      </p:sp>
      <p:sp>
        <p:nvSpPr>
          <p:cNvPr id="12" name="SEC-049-12">
            <a:extLst xmlns:a="http://schemas.openxmlformats.org/drawingml/2006/main">
              <a:ext uri="{FF2B5EF4-FFF2-40B4-BE49-F238E27FC236}">
                <a16:creationId xmlns:a16="http://schemas.microsoft.com/office/drawing/2014/main" id="{79CB9FAB-2E94-4017-9981-1C338479B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38500" y="2543175"/>
            <a:ext cx="533400" cy="2162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 i="0">
                <a:solidFill>
                  <a:srgbClr val="3B73A5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3B73A5"/>
                </a:solidFill>
                <a:latin typeface="Arial"/>
                <a:ea typeface="Arial"/>
                <a:cs typeface="Arial"/>
              </a:rPr>
              <a:t>R</a:t>
            </a:r>
          </a:p>
          <a:p xmlns:a="http://schemas.openxmlformats.org/drawingml/2006/main">
            <a:pPr algn="ctr">
              <a:defRPr sz="2850" b="1" i="0">
                <a:solidFill>
                  <a:srgbClr val="3B73A5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3B73A5"/>
                </a:solidFill>
                <a:latin typeface="Arial"/>
                <a:ea typeface="Arial"/>
                <a:cs typeface="Arial"/>
              </a:rPr>
              <a:t>A</a:t>
            </a:r>
          </a:p>
          <a:p xmlns:a="http://schemas.openxmlformats.org/drawingml/2006/main">
            <a:pPr algn="ctr">
              <a:defRPr sz="2850" b="1" i="0">
                <a:solidFill>
                  <a:srgbClr val="3B73A5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3B73A5"/>
                </a:solidFill>
                <a:latin typeface="Arial"/>
                <a:ea typeface="Arial"/>
                <a:cs typeface="Arial"/>
              </a:rPr>
              <a:t>D</a:t>
            </a:r>
          </a:p>
          <a:p xmlns:a="http://schemas.openxmlformats.org/drawingml/2006/main">
            <a:pPr algn="ctr">
              <a:defRPr sz="2850" b="1" i="0">
                <a:solidFill>
                  <a:srgbClr val="3B73A5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3B73A5"/>
                </a:solidFill>
                <a:latin typeface="Arial"/>
                <a:ea typeface="Arial"/>
                <a:cs typeface="Arial"/>
              </a:rPr>
              <a:t>I</a:t>
            </a:r>
          </a:p>
          <a:p xmlns:a="http://schemas.openxmlformats.org/drawingml/2006/main">
            <a:pPr algn="ctr">
              <a:defRPr sz="2850" b="1" i="0">
                <a:solidFill>
                  <a:srgbClr val="3B73A5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3B73A5"/>
                </a:solidFill>
                <a:latin typeface="Arial"/>
                <a:ea typeface="Arial"/>
                <a:cs typeface="Arial"/>
              </a:rPr>
              <a:t>O</a:t>
            </a:r>
          </a:p>
        </p:txBody>
      </p:sp>
      <p:sp>
        <p:nvSpPr>
          <p:cNvPr id="13" name="SEC-049-13">
            <a:extLst xmlns:a="http://schemas.openxmlformats.org/drawingml/2006/main">
              <a:ext uri="{FF2B5EF4-FFF2-40B4-BE49-F238E27FC236}">
                <a16:creationId xmlns:a16="http://schemas.microsoft.com/office/drawing/2014/main" id="{F13B4FD7-C4DA-4AA6-80CA-74A5E4E1D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14800" y="2352675"/>
            <a:ext cx="19335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BD9300"/>
            </a:solidFill>
          </a:ln>
        </p:spPr>
      </p:sp>
      <p:sp>
        <p:nvSpPr>
          <p:cNvPr id="14" name="SEC-049-14">
            <a:extLst xmlns:a="http://schemas.openxmlformats.org/drawingml/2006/main">
              <a:ext uri="{FF2B5EF4-FFF2-40B4-BE49-F238E27FC236}">
                <a16:creationId xmlns:a16="http://schemas.microsoft.com/office/drawing/2014/main" id="{DCB87F3F-C2D8-4243-AFD1-EF53B69CC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71950" y="2400300"/>
            <a:ext cx="18383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000" b="1" i="0">
                <a:solidFill>
                  <a:srgbClr val="BD9300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BD9300"/>
                </a:solidFill>
                <a:latin typeface="Arial"/>
                <a:ea typeface="Arial"/>
                <a:cs typeface="Arial"/>
              </a:rPr>
              <a:t>Flash</a:t>
            </a:r>
          </a:p>
        </p:txBody>
      </p:sp>
      <p:sp>
        <p:nvSpPr>
          <p:cNvPr id="15" name="SEC-049-15">
            <a:extLst xmlns:a="http://schemas.openxmlformats.org/drawingml/2006/main">
              <a:ext uri="{FF2B5EF4-FFF2-40B4-BE49-F238E27FC236}">
                <a16:creationId xmlns:a16="http://schemas.microsoft.com/office/drawing/2014/main" id="{ACE4BD4A-96E2-45F4-AD57-DB1BCBF40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14800" y="3228975"/>
            <a:ext cx="1933575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BD9300"/>
            </a:solidFill>
          </a:ln>
        </p:spPr>
      </p:sp>
      <p:sp>
        <p:nvSpPr>
          <p:cNvPr id="16" name="SEC-049-16">
            <a:extLst xmlns:a="http://schemas.openxmlformats.org/drawingml/2006/main">
              <a:ext uri="{FF2B5EF4-FFF2-40B4-BE49-F238E27FC236}">
                <a16:creationId xmlns:a16="http://schemas.microsoft.com/office/drawing/2014/main" id="{C1749AE3-7B1C-4121-8F59-3E8C46757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71950" y="3248025"/>
            <a:ext cx="18383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000" b="1" i="0">
                <a:solidFill>
                  <a:srgbClr val="BD9300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BD9300"/>
                </a:solidFill>
                <a:latin typeface="Arial"/>
                <a:ea typeface="Arial"/>
                <a:cs typeface="Arial"/>
              </a:rPr>
              <a:t>Debug</a:t>
            </a:r>
          </a:p>
          <a:p xmlns:a="http://schemas.openxmlformats.org/drawingml/2006/main">
            <a:pPr algn="ctr">
              <a:defRPr sz="3000" b="1" i="0">
                <a:solidFill>
                  <a:srgbClr val="BD9300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BD9300"/>
                </a:solidFill>
                <a:latin typeface="Arial"/>
                <a:ea typeface="Arial"/>
                <a:cs typeface="Arial"/>
              </a:rPr>
              <a:t>Port</a:t>
            </a:r>
          </a:p>
        </p:txBody>
      </p:sp>
      <p:sp>
        <p:nvSpPr>
          <p:cNvPr id="17" name="SEC-049-17">
            <a:extLst xmlns:a="http://schemas.openxmlformats.org/drawingml/2006/main">
              <a:ext uri="{FF2B5EF4-FFF2-40B4-BE49-F238E27FC236}">
                <a16:creationId xmlns:a16="http://schemas.microsoft.com/office/drawing/2014/main" id="{63CE95EA-C8D2-48A4-933F-C16ADF874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14800" y="4343400"/>
            <a:ext cx="193357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BD9300"/>
            </a:solidFill>
          </a:ln>
        </p:spPr>
      </p:sp>
      <p:sp>
        <p:nvSpPr>
          <p:cNvPr id="18" name="SEC-049-18">
            <a:extLst xmlns:a="http://schemas.openxmlformats.org/drawingml/2006/main">
              <a:ext uri="{FF2B5EF4-FFF2-40B4-BE49-F238E27FC236}">
                <a16:creationId xmlns:a16="http://schemas.microsoft.com/office/drawing/2014/main" id="{0E160BB7-3313-4D58-B321-F21510C0E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81475" y="4314825"/>
            <a:ext cx="17811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000" b="1" i="0">
                <a:solidFill>
                  <a:srgbClr val="BD9300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BD9300"/>
                </a:solidFill>
                <a:latin typeface="Arial"/>
                <a:ea typeface="Arial"/>
                <a:cs typeface="Arial"/>
              </a:rPr>
              <a:t>...</a:t>
            </a:r>
          </a:p>
        </p:txBody>
      </p:sp>
      <p:sp>
        <p:nvSpPr>
          <p:cNvPr id="19" name="SEC-049-19">
            <a:extLst xmlns:a="http://schemas.openxmlformats.org/drawingml/2006/main">
              <a:ext uri="{FF2B5EF4-FFF2-40B4-BE49-F238E27FC236}">
                <a16:creationId xmlns:a16="http://schemas.microsoft.com/office/drawing/2014/main" id="{D1CBB47B-6394-47B5-B3D8-8259328F4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72225" y="2352675"/>
            <a:ext cx="19240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577F39"/>
            </a:solidFill>
          </a:ln>
        </p:spPr>
      </p:sp>
      <p:sp>
        <p:nvSpPr>
          <p:cNvPr id="20" name="SEC-049-20">
            <a:extLst xmlns:a="http://schemas.openxmlformats.org/drawingml/2006/main">
              <a:ext uri="{FF2B5EF4-FFF2-40B4-BE49-F238E27FC236}">
                <a16:creationId xmlns:a16="http://schemas.microsoft.com/office/drawing/2014/main" id="{78D46A96-5D9C-4353-8169-ECDFB9024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29375" y="2381250"/>
            <a:ext cx="1828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000" b="1" i="0">
                <a:solidFill>
                  <a:srgbClr val="577F39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577F39"/>
                </a:solidFill>
                <a:latin typeface="Arial"/>
                <a:ea typeface="Arial"/>
                <a:cs typeface="Arial"/>
              </a:rPr>
              <a:t>LMT</a:t>
            </a:r>
          </a:p>
        </p:txBody>
      </p:sp>
      <p:sp>
        <p:nvSpPr>
          <p:cNvPr id="21" name="SEC-049-21">
            <a:extLst xmlns:a="http://schemas.openxmlformats.org/drawingml/2006/main">
              <a:ext uri="{FF2B5EF4-FFF2-40B4-BE49-F238E27FC236}">
                <a16:creationId xmlns:a16="http://schemas.microsoft.com/office/drawing/2014/main" id="{0DD72282-E8D8-47E4-9B42-5E6EB4ABA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72225" y="3276600"/>
            <a:ext cx="19240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577F39"/>
            </a:solidFill>
          </a:ln>
        </p:spPr>
      </p:sp>
      <p:sp>
        <p:nvSpPr>
          <p:cNvPr id="22" name="SEC-049-22">
            <a:extLst xmlns:a="http://schemas.openxmlformats.org/drawingml/2006/main">
              <a:ext uri="{FF2B5EF4-FFF2-40B4-BE49-F238E27FC236}">
                <a16:creationId xmlns:a16="http://schemas.microsoft.com/office/drawing/2014/main" id="{65113AF0-BD3B-4AA7-91A0-B8D1EFDE5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29375" y="3305175"/>
            <a:ext cx="1828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000" b="1" i="0">
                <a:solidFill>
                  <a:srgbClr val="577F39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577F39"/>
                </a:solidFill>
                <a:latin typeface="Arial"/>
                <a:ea typeface="Arial"/>
                <a:cs typeface="Arial"/>
              </a:rPr>
              <a:t>IKE</a:t>
            </a:r>
          </a:p>
        </p:txBody>
      </p:sp>
      <p:sp>
        <p:nvSpPr>
          <p:cNvPr id="23" name="SEC-049-23">
            <a:extLst xmlns:a="http://schemas.openxmlformats.org/drawingml/2006/main">
              <a:ext uri="{FF2B5EF4-FFF2-40B4-BE49-F238E27FC236}">
                <a16:creationId xmlns:a16="http://schemas.microsoft.com/office/drawing/2014/main" id="{DFA2814D-2C3C-4DBE-B8FE-8748685EC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72225" y="4219575"/>
            <a:ext cx="19240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577F39"/>
            </a:solidFill>
          </a:ln>
        </p:spPr>
      </p:sp>
      <p:sp>
        <p:nvSpPr>
          <p:cNvPr id="24" name="SEC-049-24">
            <a:extLst xmlns:a="http://schemas.openxmlformats.org/drawingml/2006/main">
              <a:ext uri="{FF2B5EF4-FFF2-40B4-BE49-F238E27FC236}">
                <a16:creationId xmlns:a16="http://schemas.microsoft.com/office/drawing/2014/main" id="{5F6AE5A0-B150-44B8-AFBF-F16284EBB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29375" y="4248150"/>
            <a:ext cx="1828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000" b="1" i="0">
                <a:solidFill>
                  <a:srgbClr val="577F39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577F39"/>
                </a:solidFill>
                <a:latin typeface="Arial"/>
                <a:ea typeface="Arial"/>
                <a:cs typeface="Arial"/>
              </a:rPr>
              <a:t>TR-069</a:t>
            </a:r>
          </a:p>
        </p:txBody>
      </p:sp>
      <p:sp>
        <p:nvSpPr>
          <p:cNvPr id="25" name="SEC-049-25">
            <a:extLst xmlns:a="http://schemas.openxmlformats.org/drawingml/2006/main">
              <a:ext uri="{FF2B5EF4-FFF2-40B4-BE49-F238E27FC236}">
                <a16:creationId xmlns:a16="http://schemas.microsoft.com/office/drawing/2014/main" id="{2723C169-134E-413F-8A7F-1DAC2D19D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24900" y="2190750"/>
            <a:ext cx="7620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B73A5"/>
            </a:solidFill>
          </a:ln>
        </p:spPr>
      </p:sp>
      <p:sp>
        <p:nvSpPr>
          <p:cNvPr id="26" name="SEC-049-26">
            <a:extLst xmlns:a="http://schemas.openxmlformats.org/drawingml/2006/main">
              <a:ext uri="{FF2B5EF4-FFF2-40B4-BE49-F238E27FC236}">
                <a16:creationId xmlns:a16="http://schemas.microsoft.com/office/drawing/2014/main" id="{B17A62D8-3836-41B5-9845-CBBCC4626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91575" y="2181225"/>
            <a:ext cx="6286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925" b="1" i="0">
                <a:solidFill>
                  <a:srgbClr val="3B73A5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3B73A5"/>
                </a:solidFill>
                <a:latin typeface="Arial"/>
                <a:ea typeface="Arial"/>
                <a:cs typeface="Arial"/>
              </a:rPr>
              <a:t>L</a:t>
            </a:r>
          </a:p>
          <a:p xmlns:a="http://schemas.openxmlformats.org/drawingml/2006/main">
            <a:pPr algn="ctr">
              <a:defRPr sz="2925" b="1" i="0">
                <a:solidFill>
                  <a:srgbClr val="3B73A5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3B73A5"/>
                </a:solidFill>
                <a:latin typeface="Arial"/>
                <a:ea typeface="Arial"/>
                <a:cs typeface="Arial"/>
              </a:rPr>
              <a:t>A</a:t>
            </a:r>
          </a:p>
          <a:p xmlns:a="http://schemas.openxmlformats.org/drawingml/2006/main">
            <a:pPr algn="ctr">
              <a:defRPr sz="2925" b="1" i="0">
                <a:solidFill>
                  <a:srgbClr val="3B73A5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3B73A5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27" name="SEC-049-27">
            <a:extLst xmlns:a="http://schemas.openxmlformats.org/drawingml/2006/main">
              <a:ext uri="{FF2B5EF4-FFF2-40B4-BE49-F238E27FC236}">
                <a16:creationId xmlns:a16="http://schemas.microsoft.com/office/drawing/2014/main" id="{FC3C689F-7173-4598-9EAC-8049CFFD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34425" y="3771900"/>
            <a:ext cx="7620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B73A5"/>
            </a:solidFill>
          </a:ln>
        </p:spPr>
      </p:sp>
      <p:sp>
        <p:nvSpPr>
          <p:cNvPr id="28" name="SEC-049-28">
            <a:extLst xmlns:a="http://schemas.openxmlformats.org/drawingml/2006/main">
              <a:ext uri="{FF2B5EF4-FFF2-40B4-BE49-F238E27FC236}">
                <a16:creationId xmlns:a16="http://schemas.microsoft.com/office/drawing/2014/main" id="{39489380-FE36-43BF-870B-80CD14D50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91575" y="3771900"/>
            <a:ext cx="6286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925" b="1" i="0">
                <a:solidFill>
                  <a:srgbClr val="3B73A5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3B73A5"/>
                </a:solidFill>
                <a:latin typeface="Arial"/>
                <a:ea typeface="Arial"/>
                <a:cs typeface="Arial"/>
              </a:rPr>
              <a:t>W</a:t>
            </a:r>
          </a:p>
          <a:p xmlns:a="http://schemas.openxmlformats.org/drawingml/2006/main">
            <a:pPr algn="ctr">
              <a:defRPr sz="2925" b="1" i="0">
                <a:solidFill>
                  <a:srgbClr val="3B73A5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3B73A5"/>
                </a:solidFill>
                <a:latin typeface="Arial"/>
                <a:ea typeface="Arial"/>
                <a:cs typeface="Arial"/>
              </a:rPr>
              <a:t>A</a:t>
            </a:r>
          </a:p>
          <a:p xmlns:a="http://schemas.openxmlformats.org/drawingml/2006/main">
            <a:pPr algn="ctr">
              <a:defRPr sz="2925" b="1" i="0">
                <a:solidFill>
                  <a:srgbClr val="3B73A5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3B73A5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29" name="SEC-049-29">
            <a:extLst xmlns:a="http://schemas.openxmlformats.org/drawingml/2006/main">
              <a:ext uri="{FF2B5EF4-FFF2-40B4-BE49-F238E27FC236}">
                <a16:creationId xmlns:a16="http://schemas.microsoft.com/office/drawing/2014/main" id="{E50E7294-EDCA-4DC4-ADCD-D5AC9420B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4800" y="542925"/>
            <a:ext cx="7334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B73A5"/>
            </a:solidFill>
          </a:ln>
        </p:spPr>
      </p:sp>
      <p:sp>
        <p:nvSpPr>
          <p:cNvPr id="30" name="SEC-049-30">
            <a:extLst xmlns:a="http://schemas.openxmlformats.org/drawingml/2006/main">
              <a:ext uri="{FF2B5EF4-FFF2-40B4-BE49-F238E27FC236}">
                <a16:creationId xmlns:a16="http://schemas.microsoft.com/office/drawing/2014/main" id="{16A3959E-B9C2-4458-9E7B-9E6AE9B2B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6350" y="476250"/>
            <a:ext cx="25622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3B73A5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3B73A5"/>
                </a:solidFill>
                <a:latin typeface="Arial"/>
                <a:ea typeface="Arial"/>
                <a:cs typeface="Arial"/>
              </a:rPr>
              <a:t>Interfaces</a:t>
            </a:r>
          </a:p>
        </p:txBody>
      </p:sp>
      <p:sp>
        <p:nvSpPr>
          <p:cNvPr id="31" name="SEC-049-31">
            <a:extLst xmlns:a="http://schemas.openxmlformats.org/drawingml/2006/main">
              <a:ext uri="{FF2B5EF4-FFF2-40B4-BE49-F238E27FC236}">
                <a16:creationId xmlns:a16="http://schemas.microsoft.com/office/drawing/2014/main" id="{512304C4-DEA2-47F8-85F1-146FAD2A9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4800" y="1038225"/>
            <a:ext cx="7334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BD9300"/>
            </a:solidFill>
          </a:ln>
        </p:spPr>
      </p:sp>
      <p:sp>
        <p:nvSpPr>
          <p:cNvPr id="32" name="SEC-049-32">
            <a:extLst xmlns:a="http://schemas.openxmlformats.org/drawingml/2006/main">
              <a:ext uri="{FF2B5EF4-FFF2-40B4-BE49-F238E27FC236}">
                <a16:creationId xmlns:a16="http://schemas.microsoft.com/office/drawing/2014/main" id="{564F57D9-B83A-45EF-8D92-158B70C14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6350" y="971550"/>
            <a:ext cx="25622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BD9300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BD9300"/>
                </a:solidFill>
                <a:latin typeface="Arial"/>
                <a:ea typeface="Arial"/>
                <a:cs typeface="Arial"/>
              </a:rPr>
              <a:t>Hardware</a:t>
            </a:r>
          </a:p>
        </p:txBody>
      </p:sp>
      <p:sp>
        <p:nvSpPr>
          <p:cNvPr id="33" name="SEC-049-33">
            <a:extLst xmlns:a="http://schemas.openxmlformats.org/drawingml/2006/main">
              <a:ext uri="{FF2B5EF4-FFF2-40B4-BE49-F238E27FC236}">
                <a16:creationId xmlns:a16="http://schemas.microsoft.com/office/drawing/2014/main" id="{EA786B51-36E3-4542-97DB-BA3CA1073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4800" y="1543050"/>
            <a:ext cx="7334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577F39"/>
            </a:solidFill>
          </a:ln>
        </p:spPr>
      </p:sp>
      <p:sp>
        <p:nvSpPr>
          <p:cNvPr id="34" name="SEC-049-34">
            <a:extLst xmlns:a="http://schemas.openxmlformats.org/drawingml/2006/main">
              <a:ext uri="{FF2B5EF4-FFF2-40B4-BE49-F238E27FC236}">
                <a16:creationId xmlns:a16="http://schemas.microsoft.com/office/drawing/2014/main" id="{C3DD1AB7-2C5F-400D-9F3C-D7342AC68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6350" y="1476375"/>
            <a:ext cx="25622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577F39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577F39"/>
                </a:solidFill>
                <a:latin typeface="Arial"/>
                <a:ea typeface="Arial"/>
                <a:cs typeface="Arial"/>
              </a:rPr>
              <a:t>Software</a:t>
            </a:r>
          </a:p>
          <a:p xmlns:a="http://schemas.openxmlformats.org/drawingml/2006/main">
            <a:pPr algn="l">
              <a:defRPr sz="2850" b="1" i="0">
                <a:solidFill>
                  <a:srgbClr val="577F39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577F39"/>
                </a:solidFill>
                <a:latin typeface="Arial"/>
                <a:ea typeface="Arial"/>
                <a:cs typeface="Arial"/>
              </a:rPr>
              <a:t>(services)</a:t>
            </a:r>
          </a:p>
        </p:txBody>
      </p:sp>
      <p:pic>
        <p:nvPicPr>
          <p:cNvPr id="9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172fff937446cc"/>
          <a:stretch xmlns:a="http://schemas.openxmlformats.org/drawingml/2006/main"/>
        </p:blipFill>
        <p:spPr>
          <a:xfrm xmlns:a="http://schemas.openxmlformats.org/drawingml/2006/main">
            <a:off x="1009650" y="2971800"/>
            <a:ext cx="714375" cy="1200150"/>
          </a:xfrm>
          <a:prstGeom xmlns:a="http://schemas.openxmlformats.org/drawingml/2006/main" prst="rect">
            <a:avLst/>
          </a:prstGeom>
        </p:spPr>
      </p:pic>
      <p:sp>
        <p:nvSpPr>
          <p:cNvPr id="36" name="SEC-049-35">
            <a:extLst xmlns:a="http://schemas.openxmlformats.org/drawingml/2006/main">
              <a:ext uri="{FF2B5EF4-FFF2-40B4-BE49-F238E27FC236}">
                <a16:creationId xmlns:a16="http://schemas.microsoft.com/office/drawing/2014/main" id="{76777491-F2E1-4A1A-BA7B-BD13B4A9B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2975" y="4295775"/>
            <a:ext cx="1028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UE</a:t>
            </a:r>
          </a:p>
        </p:txBody>
      </p:sp>
      <p:pic>
        <p:nvPicPr>
          <p:cNvPr id="9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616320eca2455e"/>
          <a:stretch xmlns:a="http://schemas.openxmlformats.org/drawingml/2006/main"/>
        </p:blipFill>
        <p:spPr>
          <a:xfrm xmlns:a="http://schemas.openxmlformats.org/drawingml/2006/main">
            <a:off x="12696825" y="3790950"/>
            <a:ext cx="1257300" cy="1228725"/>
          </a:xfrm>
          <a:prstGeom xmlns:a="http://schemas.openxmlformats.org/drawingml/2006/main" prst="rect">
            <a:avLst/>
          </a:prstGeom>
        </p:spPr>
      </p:pic>
      <p:sp>
        <p:nvSpPr>
          <p:cNvPr id="38" name="SEC-049-36">
            <a:extLst xmlns:a="http://schemas.openxmlformats.org/drawingml/2006/main">
              <a:ext uri="{FF2B5EF4-FFF2-40B4-BE49-F238E27FC236}">
                <a16:creationId xmlns:a16="http://schemas.microsoft.com/office/drawing/2014/main" id="{FE31955F-3AA8-475B-8EB0-7CA502887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72950" y="4981575"/>
            <a:ext cx="23907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Gateway</a:t>
            </a:r>
          </a:p>
        </p:txBody>
      </p:sp>
      <p:pic>
        <p:nvPicPr>
          <p:cNvPr id="9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71ce150e6f4b5f"/>
          <a:stretch xmlns:a="http://schemas.openxmlformats.org/drawingml/2006/main"/>
        </p:blipFill>
        <p:spPr>
          <a:xfrm xmlns:a="http://schemas.openxmlformats.org/drawingml/2006/main">
            <a:off x="14897100" y="3943350"/>
            <a:ext cx="1304925" cy="914400"/>
          </a:xfrm>
          <a:prstGeom xmlns:a="http://schemas.openxmlformats.org/drawingml/2006/main" prst="rect">
            <a:avLst/>
          </a:prstGeom>
        </p:spPr>
      </p:pic>
      <p:sp>
        <p:nvSpPr>
          <p:cNvPr id="40" name="SEC-049-37">
            <a:extLst xmlns:a="http://schemas.openxmlformats.org/drawingml/2006/main">
              <a:ext uri="{FF2B5EF4-FFF2-40B4-BE49-F238E27FC236}">
                <a16:creationId xmlns:a16="http://schemas.microsoft.com/office/drawing/2014/main" id="{A9AA5182-7688-420B-B22A-AE7B9CA59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773275" y="5038725"/>
            <a:ext cx="1876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SeGW</a:t>
            </a:r>
          </a:p>
        </p:txBody>
      </p:sp>
      <p:pic>
        <p:nvPicPr>
          <p:cNvPr id="9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1da9f6e15f4169"/>
          <a:stretch xmlns:a="http://schemas.openxmlformats.org/drawingml/2006/main"/>
        </p:blipFill>
        <p:spPr>
          <a:xfrm xmlns:a="http://schemas.openxmlformats.org/drawingml/2006/main">
            <a:off x="17259300" y="3857625"/>
            <a:ext cx="1200150" cy="1085850"/>
          </a:xfrm>
          <a:prstGeom xmlns:a="http://schemas.openxmlformats.org/drawingml/2006/main" prst="rect">
            <a:avLst/>
          </a:prstGeom>
        </p:spPr>
      </p:pic>
      <p:sp>
        <p:nvSpPr>
          <p:cNvPr id="42" name="SEC-049-38">
            <a:extLst xmlns:a="http://schemas.openxmlformats.org/drawingml/2006/main">
              <a:ext uri="{FF2B5EF4-FFF2-40B4-BE49-F238E27FC236}">
                <a16:creationId xmlns:a16="http://schemas.microsoft.com/office/drawing/2014/main" id="{6599804A-DD02-4B4E-A1F1-AA1DA66BE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906875" y="4943475"/>
            <a:ext cx="20955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Core</a:t>
            </a:r>
          </a:p>
          <a:p xmlns:a="http://schemas.openxmlformats.org/drawingml/2006/main">
            <a:pPr algn="ctr">
              <a:defRPr sz="33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Network</a:t>
            </a:r>
          </a:p>
        </p:txBody>
      </p:sp>
      <p:pic>
        <p:nvPicPr>
          <p:cNvPr id="9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e8feb9827c48f6"/>
          <a:stretch xmlns:a="http://schemas.openxmlformats.org/drawingml/2006/main"/>
        </p:blipFill>
        <p:spPr>
          <a:xfrm xmlns:a="http://schemas.openxmlformats.org/drawingml/2006/main">
            <a:off x="17240250" y="2000250"/>
            <a:ext cx="1314450" cy="1209675"/>
          </a:xfrm>
          <a:prstGeom xmlns:a="http://schemas.openxmlformats.org/drawingml/2006/main" prst="rect">
            <a:avLst/>
          </a:prstGeom>
        </p:spPr>
      </p:pic>
      <p:sp>
        <p:nvSpPr>
          <p:cNvPr id="44" name="SEC-049-39">
            <a:extLst xmlns:a="http://schemas.openxmlformats.org/drawingml/2006/main">
              <a:ext uri="{FF2B5EF4-FFF2-40B4-BE49-F238E27FC236}">
                <a16:creationId xmlns:a16="http://schemas.microsoft.com/office/drawing/2014/main" id="{7B049783-6B48-415A-A8BA-6B08AD96B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106900" y="3248025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HeMS</a:t>
            </a:r>
          </a:p>
        </p:txBody>
      </p:sp>
      <p:pic>
        <p:nvPicPr>
          <p:cNvPr id="10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c6dda218204bea"/>
          <a:stretch xmlns:a="http://schemas.openxmlformats.org/drawingml/2006/main"/>
        </p:blipFill>
        <p:spPr>
          <a:xfrm xmlns:a="http://schemas.openxmlformats.org/drawingml/2006/main">
            <a:off x="4876800" y="5457825"/>
            <a:ext cx="800100" cy="638175"/>
          </a:xfrm>
          <a:prstGeom xmlns:a="http://schemas.openxmlformats.org/drawingml/2006/main" prst="rect">
            <a:avLst/>
          </a:prstGeom>
        </p:spPr>
      </p:pic>
      <p:sp>
        <p:nvSpPr>
          <p:cNvPr id="46" name="SEC-049-40">
            <a:extLst xmlns:a="http://schemas.openxmlformats.org/drawingml/2006/main">
              <a:ext uri="{FF2B5EF4-FFF2-40B4-BE49-F238E27FC236}">
                <a16:creationId xmlns:a16="http://schemas.microsoft.com/office/drawing/2014/main" id="{7F894456-8A10-4E54-8065-B44B262D2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0" y="5543550"/>
            <a:ext cx="29527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Femtocell</a:t>
            </a:r>
          </a:p>
        </p:txBody>
      </p:sp>
      <p:pic>
        <p:nvPicPr>
          <p:cNvPr id="10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3b1e9b6006459b"/>
          <a:stretch xmlns:a="http://schemas.openxmlformats.org/drawingml/2006/main"/>
        </p:blipFill>
        <p:spPr>
          <a:xfrm xmlns:a="http://schemas.openxmlformats.org/drawingml/2006/main">
            <a:off x="6838950" y="228600"/>
            <a:ext cx="800100" cy="800100"/>
          </a:xfrm>
          <a:prstGeom xmlns:a="http://schemas.openxmlformats.org/drawingml/2006/main" prst="rect">
            <a:avLst/>
          </a:prstGeom>
        </p:spPr>
      </p:pic>
      <p:sp>
        <p:nvSpPr>
          <p:cNvPr id="48" name="SEC-049-41">
            <a:extLst xmlns:a="http://schemas.openxmlformats.org/drawingml/2006/main">
              <a:ext uri="{FF2B5EF4-FFF2-40B4-BE49-F238E27FC236}">
                <a16:creationId xmlns:a16="http://schemas.microsoft.com/office/drawing/2014/main" id="{D3226474-EB4B-4516-A248-BE338E327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43825" y="228600"/>
            <a:ext cx="18192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75" b="1" i="0">
                <a:solidFill>
                  <a:srgbClr val="BE0000"/>
                </a:solidFill>
                <a:latin typeface="Arial"/>
                <a:ea typeface="Arial"/>
                <a:cs typeface="Arial"/>
              </a:defRPr>
            </a:pPr>
            <a:r>
              <a:rPr sz="2775" b="1" i="0">
                <a:solidFill>
                  <a:srgbClr val="BE0000"/>
                </a:solidFill>
                <a:latin typeface="Arial"/>
                <a:ea typeface="Arial"/>
                <a:cs typeface="Arial"/>
              </a:rPr>
              <a:t>Local</a:t>
            </a:r>
          </a:p>
          <a:p xmlns:a="http://schemas.openxmlformats.org/drawingml/2006/main">
            <a:pPr algn="ctr">
              <a:defRPr sz="2775" b="1" i="0">
                <a:solidFill>
                  <a:srgbClr val="BE0000"/>
                </a:solidFill>
                <a:latin typeface="Arial"/>
                <a:ea typeface="Arial"/>
                <a:cs typeface="Arial"/>
              </a:defRPr>
            </a:pPr>
            <a:r>
              <a:rPr sz="2775" b="1" i="0">
                <a:solidFill>
                  <a:srgbClr val="BE0000"/>
                </a:solidFill>
                <a:latin typeface="Arial"/>
                <a:ea typeface="Arial"/>
                <a:cs typeface="Arial"/>
              </a:rPr>
              <a:t>Attacker</a:t>
            </a:r>
          </a:p>
        </p:txBody>
      </p:sp>
      <p:sp>
        <p:nvSpPr>
          <p:cNvPr id="49" name="path-42">
            <a:extLst xmlns:a="http://schemas.openxmlformats.org/drawingml/2006/main">
              <a:ext uri="{FF2B5EF4-FFF2-40B4-BE49-F238E27FC236}">
                <a16:creationId xmlns:a16="http://schemas.microsoft.com/office/drawing/2014/main" id="{CD49D723-1090-4024-A64C-9D5033AE7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1000125"/>
            <a:ext cx="4429125" cy="1190625"/>
          </a:xfrm>
          <a:custGeom xmlns:a="http://schemas.openxmlformats.org/drawingml/2006/main">
            <a:pathLst>
              <a:path w="4429125" h="1190625">
                <a:moveTo>
                  <a:pt x="0" y="1104900"/>
                </a:moveTo>
                <a:lnTo>
                  <a:pt x="2162175" y="0"/>
                </a:lnTo>
                <a:lnTo>
                  <a:pt x="4429125" y="1190625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BE0000"/>
            </a:solidFill>
            <a:prstDash val="dot"/>
          </a:ln>
        </p:spPr>
      </p:sp>
      <p:pic>
        <p:nvPicPr>
          <p:cNvPr id="10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f26f5d3f704ed8"/>
          <a:stretch xmlns:a="http://schemas.openxmlformats.org/drawingml/2006/main"/>
        </p:blipFill>
        <p:spPr>
          <a:xfrm xmlns:a="http://schemas.openxmlformats.org/drawingml/2006/main">
            <a:off x="10115550" y="2857500"/>
            <a:ext cx="800100" cy="800100"/>
          </a:xfrm>
          <a:prstGeom xmlns:a="http://schemas.openxmlformats.org/drawingml/2006/main" prst="rect">
            <a:avLst/>
          </a:prstGeom>
        </p:spPr>
      </p:pic>
      <p:sp>
        <p:nvSpPr>
          <p:cNvPr id="51" name="SEC-049-43">
            <a:extLst xmlns:a="http://schemas.openxmlformats.org/drawingml/2006/main">
              <a:ext uri="{FF2B5EF4-FFF2-40B4-BE49-F238E27FC236}">
                <a16:creationId xmlns:a16="http://schemas.microsoft.com/office/drawing/2014/main" id="{FC9D9E6A-532B-4E52-A089-D575B2DB5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25175" y="2905125"/>
            <a:ext cx="2190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75" b="1" i="0">
                <a:solidFill>
                  <a:srgbClr val="BE0000"/>
                </a:solidFill>
                <a:latin typeface="Arial"/>
                <a:ea typeface="Arial"/>
                <a:cs typeface="Arial"/>
              </a:defRPr>
            </a:pPr>
            <a:r>
              <a:rPr sz="2775" b="1" i="0">
                <a:solidFill>
                  <a:srgbClr val="BE0000"/>
                </a:solidFill>
                <a:latin typeface="Arial"/>
                <a:ea typeface="Arial"/>
                <a:cs typeface="Arial"/>
              </a:rPr>
              <a:t>Co-located</a:t>
            </a:r>
          </a:p>
          <a:p xmlns:a="http://schemas.openxmlformats.org/drawingml/2006/main">
            <a:pPr algn="ctr">
              <a:defRPr sz="2775" b="1" i="0">
                <a:solidFill>
                  <a:srgbClr val="BE0000"/>
                </a:solidFill>
                <a:latin typeface="Arial"/>
                <a:ea typeface="Arial"/>
                <a:cs typeface="Arial"/>
              </a:defRPr>
            </a:pPr>
            <a:r>
              <a:rPr sz="2775" b="1" i="0">
                <a:solidFill>
                  <a:srgbClr val="BE0000"/>
                </a:solidFill>
                <a:latin typeface="Arial"/>
                <a:ea typeface="Arial"/>
                <a:cs typeface="Arial"/>
              </a:rPr>
              <a:t>Attacker</a:t>
            </a:r>
          </a:p>
        </p:txBody>
      </p:sp>
      <p:sp>
        <p:nvSpPr>
          <p:cNvPr id="52" name="path-44">
            <a:extLst xmlns:a="http://schemas.openxmlformats.org/drawingml/2006/main">
              <a:ext uri="{FF2B5EF4-FFF2-40B4-BE49-F238E27FC236}">
                <a16:creationId xmlns:a16="http://schemas.microsoft.com/office/drawing/2014/main" id="{75E760F9-3C90-4C73-BE13-63F5E9525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724275"/>
            <a:ext cx="3228975" cy="647700"/>
          </a:xfrm>
          <a:custGeom xmlns:a="http://schemas.openxmlformats.org/drawingml/2006/main">
            <a:pathLst>
              <a:path w="3228975" h="647700">
                <a:moveTo>
                  <a:pt x="0" y="647700"/>
                </a:moveTo>
                <a:lnTo>
                  <a:pt x="1657350" y="0"/>
                </a:lnTo>
                <a:lnTo>
                  <a:pt x="3228975" y="647700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BE0000"/>
            </a:solidFill>
            <a:prstDash val="dot"/>
          </a:ln>
        </p:spPr>
      </p:sp>
      <p:pic>
        <p:nvPicPr>
          <p:cNvPr id="10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383c819e8a4a4c"/>
          <a:stretch xmlns:a="http://schemas.openxmlformats.org/drawingml/2006/main"/>
        </p:blipFill>
        <p:spPr>
          <a:xfrm xmlns:a="http://schemas.openxmlformats.org/drawingml/2006/main">
            <a:off x="12782550" y="1876425"/>
            <a:ext cx="800100" cy="800100"/>
          </a:xfrm>
          <a:prstGeom xmlns:a="http://schemas.openxmlformats.org/drawingml/2006/main" prst="rect">
            <a:avLst/>
          </a:prstGeom>
        </p:spPr>
      </p:pic>
      <p:sp>
        <p:nvSpPr>
          <p:cNvPr id="54" name="SEC-049-45">
            <a:extLst xmlns:a="http://schemas.openxmlformats.org/drawingml/2006/main">
              <a:ext uri="{FF2B5EF4-FFF2-40B4-BE49-F238E27FC236}">
                <a16:creationId xmlns:a16="http://schemas.microsoft.com/office/drawing/2014/main" id="{9F61413D-2FFE-4844-A34A-1826FFE96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68375" y="1914525"/>
            <a:ext cx="19621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 i="0">
                <a:solidFill>
                  <a:srgbClr val="BE0000"/>
                </a:solidFill>
                <a:latin typeface="Arial"/>
                <a:ea typeface="Arial"/>
                <a:cs typeface="Arial"/>
              </a:defRPr>
            </a:pPr>
            <a:r>
              <a:rPr sz="2775" b="1" i="0">
                <a:solidFill>
                  <a:srgbClr val="BE0000"/>
                </a:solidFill>
                <a:latin typeface="Arial"/>
                <a:ea typeface="Arial"/>
                <a:cs typeface="Arial"/>
              </a:rPr>
              <a:t>Internet</a:t>
            </a:r>
          </a:p>
          <a:p xmlns:a="http://schemas.openxmlformats.org/drawingml/2006/main">
            <a:pPr algn="l">
              <a:defRPr sz="2775" b="1" i="0">
                <a:solidFill>
                  <a:srgbClr val="BE0000"/>
                </a:solidFill>
                <a:latin typeface="Arial"/>
                <a:ea typeface="Arial"/>
                <a:cs typeface="Arial"/>
              </a:defRPr>
            </a:pPr>
            <a:r>
              <a:rPr sz="2775" b="1" i="0">
                <a:solidFill>
                  <a:srgbClr val="BE0000"/>
                </a:solidFill>
                <a:latin typeface="Arial"/>
                <a:ea typeface="Arial"/>
                <a:cs typeface="Arial"/>
              </a:rPr>
              <a:t>Attacker</a:t>
            </a:r>
          </a:p>
        </p:txBody>
      </p:sp>
      <p:sp>
        <p:nvSpPr>
          <p:cNvPr id="55" name="path-46">
            <a:extLst xmlns:a="http://schemas.openxmlformats.org/drawingml/2006/main">
              <a:ext uri="{FF2B5EF4-FFF2-40B4-BE49-F238E27FC236}">
                <a16:creationId xmlns:a16="http://schemas.microsoft.com/office/drawing/2014/main" id="{66781927-58AB-4964-8C4B-284CEF505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2125" y="2724150"/>
            <a:ext cx="95" cy="1009650"/>
          </a:xfrm>
          <a:custGeom xmlns:a="http://schemas.openxmlformats.org/drawingml/2006/main">
            <a:pathLst>
              <a:path w="95" h="1009650">
                <a:moveTo>
                  <a:pt x="0" y="0"/>
                </a:moveTo>
                <a:lnTo>
                  <a:pt x="0" y="1009650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BE0000"/>
            </a:solidFill>
            <a:prstDash val="dot"/>
          </a:ln>
        </p:spPr>
      </p:sp>
    </p:spTree>
    <p:extLst>
      <p:ext uri="{BB962C8B-B14F-4D97-AF65-F5344CB8AC3E}">
        <p14:creationId xmlns:p14="http://schemas.microsoft.com/office/powerpoint/2010/main" val="2610512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2026-09-05T16:17:40.9190000Z</dcterms:created>
  <dcterms:modified xsi:type="dcterms:W3CDTF">2026-09-05T16:17:40.9190000Z</dcterms:modified>
</coreProperties>
</file>